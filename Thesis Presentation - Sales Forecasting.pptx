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7" r:id="rId15"/>
    <p:sldId id="269" r:id="rId16"/>
    <p:sldId id="270" r:id="rId17"/>
    <p:sldId id="271" r:id="rId18"/>
    <p:sldId id="272" r:id="rId19"/>
    <p:sldId id="273" r:id="rId20"/>
    <p:sldId id="275" r:id="rId21"/>
  </p:sldIdLst>
  <p:sldSz cx="12192000" cy="6858000"/>
  <p:notesSz cx="6858000" cy="9144000"/>
  <p:embeddedFontLst>
    <p:embeddedFont>
      <p:font typeface="DM Sans" pitchFamily="2" charset="0"/>
      <p:regular r:id="rId23"/>
      <p:bold r:id="rId24"/>
      <p:italic r:id="rId25"/>
      <p:boldItalic r:id="rId26"/>
    </p:embeddedFont>
    <p:embeddedFont>
      <p:font typeface="Merriweather" panose="000005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9922DEC-42A0-4DF6-905A-409E4B9013D0}">
  <a:tblStyle styleId="{B9922DEC-42A0-4DF6-905A-409E4B9013D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2" d="100"/>
          <a:sy n="62" d="100"/>
        </p:scale>
        <p:origin x="1032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49EAB0-47DC-4BC8-B98A-F1C4B1CDC055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D0859F1-E40D-465D-9F97-654388CFA301}">
      <dgm:prSet/>
      <dgm:spPr/>
      <dgm:t>
        <a:bodyPr/>
        <a:lstStyle/>
        <a:p>
          <a:r>
            <a:rPr lang="el-GR" b="1" i="0" dirty="0"/>
            <a:t>Ordered Boosting:</a:t>
          </a:r>
          <a:r>
            <a:rPr lang="el-GR" b="0" i="0" dirty="0"/>
            <a:t> Πρωτοποριακή τεχνική που εξαλείφει τη διαρροή στόχου (target leakage) κατά την εκπαίδευση, εξασφαλίζοντας αμερόληπτες προβλέψεις.</a:t>
          </a:r>
          <a:endParaRPr lang="en-US" dirty="0"/>
        </a:p>
      </dgm:t>
    </dgm:pt>
    <dgm:pt modelId="{16406538-5152-4DB6-BB81-F8861D0E4BEA}" type="parTrans" cxnId="{55CEE0DF-D398-4BDC-9E82-BA77CC9DC04E}">
      <dgm:prSet/>
      <dgm:spPr/>
      <dgm:t>
        <a:bodyPr/>
        <a:lstStyle/>
        <a:p>
          <a:endParaRPr lang="en-US"/>
        </a:p>
      </dgm:t>
    </dgm:pt>
    <dgm:pt modelId="{C1ED0741-A2A4-4592-A7B5-BAD0A9737FF2}" type="sibTrans" cxnId="{55CEE0DF-D398-4BDC-9E82-BA77CC9DC04E}">
      <dgm:prSet/>
      <dgm:spPr/>
      <dgm:t>
        <a:bodyPr/>
        <a:lstStyle/>
        <a:p>
          <a:endParaRPr lang="en-US"/>
        </a:p>
      </dgm:t>
    </dgm:pt>
    <dgm:pt modelId="{AD8058C0-F2D9-4CA8-B07F-E6ED8F597E15}">
      <dgm:prSet/>
      <dgm:spPr/>
      <dgm:t>
        <a:bodyPr/>
        <a:lstStyle/>
        <a:p>
          <a:r>
            <a:rPr lang="el-GR" b="1" i="0"/>
            <a:t>Εγγενής Διαχείριση Κατηγορικών Δεδομένων:</a:t>
          </a:r>
          <a:r>
            <a:rPr lang="el-GR" b="0" i="0"/>
            <a:t> Χρήση </a:t>
          </a:r>
          <a:r>
            <a:rPr lang="el-GR" b="0" i="1"/>
            <a:t>Ordered Target Statistics</a:t>
          </a:r>
          <a:r>
            <a:rPr lang="el-GR" b="0" i="0"/>
            <a:t> για τον χειρισμό μεταβλητών υψηλής καρδινικότητας (π.χ. Store ID, Category) χωρίς την ανάγκη για One-Hot Encoding.</a:t>
          </a:r>
          <a:endParaRPr lang="en-US"/>
        </a:p>
      </dgm:t>
    </dgm:pt>
    <dgm:pt modelId="{2D1EEC91-9A33-46A8-ACCA-A26104037240}" type="parTrans" cxnId="{5D82F1BA-DCA4-42A5-89BA-17AB8017A0A3}">
      <dgm:prSet/>
      <dgm:spPr/>
      <dgm:t>
        <a:bodyPr/>
        <a:lstStyle/>
        <a:p>
          <a:endParaRPr lang="en-US"/>
        </a:p>
      </dgm:t>
    </dgm:pt>
    <dgm:pt modelId="{4BA7DE13-B4A3-45BE-9305-F6D846B26ADF}" type="sibTrans" cxnId="{5D82F1BA-DCA4-42A5-89BA-17AB8017A0A3}">
      <dgm:prSet/>
      <dgm:spPr/>
      <dgm:t>
        <a:bodyPr/>
        <a:lstStyle/>
        <a:p>
          <a:endParaRPr lang="en-US"/>
        </a:p>
      </dgm:t>
    </dgm:pt>
    <dgm:pt modelId="{E45122C5-4AE7-45E0-8836-3002418D9EB8}">
      <dgm:prSet/>
      <dgm:spPr/>
      <dgm:t>
        <a:bodyPr/>
        <a:lstStyle/>
        <a:p>
          <a:r>
            <a:rPr lang="el-GR" b="1" i="0"/>
            <a:t>Συμμετρικά Δέντρα (Oblivious Trees):</a:t>
          </a:r>
          <a:r>
            <a:rPr lang="el-GR" b="0" i="0"/>
            <a:t> Χρήση δέντρων απόφασης που εφαρμόζουν το ίδιο split σε κάθε επίπεδο βάθους, δρώντας ως ισχυρός μηχανισμός κανονικοποίησης κατά του overfitting.</a:t>
          </a:r>
          <a:endParaRPr lang="en-US"/>
        </a:p>
      </dgm:t>
    </dgm:pt>
    <dgm:pt modelId="{703B8244-4A03-4246-AAE3-49F84548ECBE}" type="parTrans" cxnId="{BBC83A90-40AB-4AB0-AA67-146F1F866269}">
      <dgm:prSet/>
      <dgm:spPr/>
      <dgm:t>
        <a:bodyPr/>
        <a:lstStyle/>
        <a:p>
          <a:endParaRPr lang="en-US"/>
        </a:p>
      </dgm:t>
    </dgm:pt>
    <dgm:pt modelId="{D6280400-7E6C-47C3-B8DB-FBD9243A8C4E}" type="sibTrans" cxnId="{BBC83A90-40AB-4AB0-AA67-146F1F866269}">
      <dgm:prSet/>
      <dgm:spPr/>
      <dgm:t>
        <a:bodyPr/>
        <a:lstStyle/>
        <a:p>
          <a:endParaRPr lang="en-US"/>
        </a:p>
      </dgm:t>
    </dgm:pt>
    <dgm:pt modelId="{9EE72B02-570D-4213-A381-A48721AFC140}">
      <dgm:prSet/>
      <dgm:spPr/>
      <dgm:t>
        <a:bodyPr/>
        <a:lstStyle/>
        <a:p>
          <a:r>
            <a:rPr lang="el-GR" b="1" i="0"/>
            <a:t>Υπολογιστική Υπεροχή:</a:t>
          </a:r>
          <a:r>
            <a:rPr lang="el-GR" b="0" i="0"/>
            <a:t> Ταχύτητα εξαγωγής προβλέψεων (inference) έως και 8 φορές μεγαλύτερη σε σχέση με άλλες αρχιτεκτονικές GBM.</a:t>
          </a:r>
          <a:endParaRPr lang="en-US"/>
        </a:p>
      </dgm:t>
    </dgm:pt>
    <dgm:pt modelId="{A2E3C428-439B-45A9-88D6-D6B3F74CED63}" type="parTrans" cxnId="{6004F8D9-57CC-4F67-A461-E4ADEE0A735F}">
      <dgm:prSet/>
      <dgm:spPr/>
      <dgm:t>
        <a:bodyPr/>
        <a:lstStyle/>
        <a:p>
          <a:endParaRPr lang="en-US"/>
        </a:p>
      </dgm:t>
    </dgm:pt>
    <dgm:pt modelId="{C2D29530-A9CE-42B8-B398-656B8C0507AD}" type="sibTrans" cxnId="{6004F8D9-57CC-4F67-A461-E4ADEE0A735F}">
      <dgm:prSet/>
      <dgm:spPr/>
      <dgm:t>
        <a:bodyPr/>
        <a:lstStyle/>
        <a:p>
          <a:endParaRPr lang="en-US"/>
        </a:p>
      </dgm:t>
    </dgm:pt>
    <dgm:pt modelId="{CFD9F4A8-8F49-46EB-8248-D2F2858332B2}">
      <dgm:prSet/>
      <dgm:spPr/>
      <dgm:t>
        <a:bodyPr/>
        <a:lstStyle/>
        <a:p>
          <a:r>
            <a:rPr lang="el-GR" b="1" i="0"/>
            <a:t>Στρατηγική Επικύρωσης:</a:t>
          </a:r>
          <a:r>
            <a:rPr lang="el-GR" b="0" i="0"/>
            <a:t> Εφαρμογή αυστηρού </a:t>
          </a:r>
          <a:r>
            <a:rPr lang="en-US" b="0" i="0"/>
            <a:t>Time-Series Cross Validation (Walk-Forward) </a:t>
          </a:r>
          <a:r>
            <a:rPr lang="el-GR" b="0" i="0"/>
            <a:t>στα </a:t>
          </a:r>
          <a:r>
            <a:rPr lang="en-US" b="0" i="0"/>
            <a:t>folds </a:t>
          </a:r>
          <a:r>
            <a:rPr lang="el-GR" b="0" i="0"/>
            <a:t>εκπαίδευσης για την πλήρη εξάλειψη του </a:t>
          </a:r>
          <a:r>
            <a:rPr lang="en-US" b="0" i="0"/>
            <a:t>Data Leakage.</a:t>
          </a:r>
          <a:endParaRPr lang="en-US"/>
        </a:p>
      </dgm:t>
    </dgm:pt>
    <dgm:pt modelId="{1F51B56B-4A42-408E-8AD3-91DC70052A45}" type="parTrans" cxnId="{9FDBEE44-7894-42E7-8DC4-1072485ACD62}">
      <dgm:prSet/>
      <dgm:spPr/>
      <dgm:t>
        <a:bodyPr/>
        <a:lstStyle/>
        <a:p>
          <a:endParaRPr lang="en-US"/>
        </a:p>
      </dgm:t>
    </dgm:pt>
    <dgm:pt modelId="{87DDD48F-837E-4BD2-90A4-CCC504E5CCDE}" type="sibTrans" cxnId="{9FDBEE44-7894-42E7-8DC4-1072485ACD62}">
      <dgm:prSet/>
      <dgm:spPr/>
      <dgm:t>
        <a:bodyPr/>
        <a:lstStyle/>
        <a:p>
          <a:endParaRPr lang="en-US"/>
        </a:p>
      </dgm:t>
    </dgm:pt>
    <dgm:pt modelId="{15EC0465-C381-4505-9DEF-A444DF0EEB1F}" type="pres">
      <dgm:prSet presAssocID="{2749EAB0-47DC-4BC8-B98A-F1C4B1CDC055}" presName="diagram" presStyleCnt="0">
        <dgm:presLayoutVars>
          <dgm:dir/>
          <dgm:resizeHandles val="exact"/>
        </dgm:presLayoutVars>
      </dgm:prSet>
      <dgm:spPr/>
    </dgm:pt>
    <dgm:pt modelId="{55B60D7D-51AC-4DC0-AC50-0CCF80EB6D4B}" type="pres">
      <dgm:prSet presAssocID="{4D0859F1-E40D-465D-9F97-654388CFA301}" presName="node" presStyleLbl="node1" presStyleIdx="0" presStyleCnt="5">
        <dgm:presLayoutVars>
          <dgm:bulletEnabled val="1"/>
        </dgm:presLayoutVars>
      </dgm:prSet>
      <dgm:spPr/>
    </dgm:pt>
    <dgm:pt modelId="{0ED19674-ECA7-4D38-BA39-7EC829FC1A36}" type="pres">
      <dgm:prSet presAssocID="{C1ED0741-A2A4-4592-A7B5-BAD0A9737FF2}" presName="sibTrans" presStyleLbl="sibTrans2D1" presStyleIdx="0" presStyleCnt="4"/>
      <dgm:spPr/>
    </dgm:pt>
    <dgm:pt modelId="{8BE9D7E8-3E32-404D-9B5C-AA4B219A073A}" type="pres">
      <dgm:prSet presAssocID="{C1ED0741-A2A4-4592-A7B5-BAD0A9737FF2}" presName="connectorText" presStyleLbl="sibTrans2D1" presStyleIdx="0" presStyleCnt="4"/>
      <dgm:spPr/>
    </dgm:pt>
    <dgm:pt modelId="{DDFCCA3A-D7CE-4B2F-B735-63D43D91A54F}" type="pres">
      <dgm:prSet presAssocID="{AD8058C0-F2D9-4CA8-B07F-E6ED8F597E15}" presName="node" presStyleLbl="node1" presStyleIdx="1" presStyleCnt="5">
        <dgm:presLayoutVars>
          <dgm:bulletEnabled val="1"/>
        </dgm:presLayoutVars>
      </dgm:prSet>
      <dgm:spPr/>
    </dgm:pt>
    <dgm:pt modelId="{0F726F3D-0148-4497-80F6-A9601C721FCC}" type="pres">
      <dgm:prSet presAssocID="{4BA7DE13-B4A3-45BE-9305-F6D846B26ADF}" presName="sibTrans" presStyleLbl="sibTrans2D1" presStyleIdx="1" presStyleCnt="4"/>
      <dgm:spPr/>
    </dgm:pt>
    <dgm:pt modelId="{17DEFEF8-6C7C-40DE-BCBB-F635A30CB03A}" type="pres">
      <dgm:prSet presAssocID="{4BA7DE13-B4A3-45BE-9305-F6D846B26ADF}" presName="connectorText" presStyleLbl="sibTrans2D1" presStyleIdx="1" presStyleCnt="4"/>
      <dgm:spPr/>
    </dgm:pt>
    <dgm:pt modelId="{51D536EB-92DA-4ADF-9815-EEA3B92073EC}" type="pres">
      <dgm:prSet presAssocID="{E45122C5-4AE7-45E0-8836-3002418D9EB8}" presName="node" presStyleLbl="node1" presStyleIdx="2" presStyleCnt="5">
        <dgm:presLayoutVars>
          <dgm:bulletEnabled val="1"/>
        </dgm:presLayoutVars>
      </dgm:prSet>
      <dgm:spPr/>
    </dgm:pt>
    <dgm:pt modelId="{BDFB9C2F-EE88-4B24-B25E-4105849CDCE9}" type="pres">
      <dgm:prSet presAssocID="{D6280400-7E6C-47C3-B8DB-FBD9243A8C4E}" presName="sibTrans" presStyleLbl="sibTrans2D1" presStyleIdx="2" presStyleCnt="4"/>
      <dgm:spPr/>
    </dgm:pt>
    <dgm:pt modelId="{1FBAAD25-7098-4991-99D8-315889937B9A}" type="pres">
      <dgm:prSet presAssocID="{D6280400-7E6C-47C3-B8DB-FBD9243A8C4E}" presName="connectorText" presStyleLbl="sibTrans2D1" presStyleIdx="2" presStyleCnt="4"/>
      <dgm:spPr/>
    </dgm:pt>
    <dgm:pt modelId="{45096BF7-6915-4921-AAF1-CB5B10A5945A}" type="pres">
      <dgm:prSet presAssocID="{9EE72B02-570D-4213-A381-A48721AFC140}" presName="node" presStyleLbl="node1" presStyleIdx="3" presStyleCnt="5">
        <dgm:presLayoutVars>
          <dgm:bulletEnabled val="1"/>
        </dgm:presLayoutVars>
      </dgm:prSet>
      <dgm:spPr/>
    </dgm:pt>
    <dgm:pt modelId="{B3D86ADF-95A7-4556-B69C-8C79A4AFA271}" type="pres">
      <dgm:prSet presAssocID="{C2D29530-A9CE-42B8-B398-656B8C0507AD}" presName="sibTrans" presStyleLbl="sibTrans2D1" presStyleIdx="3" presStyleCnt="4"/>
      <dgm:spPr/>
    </dgm:pt>
    <dgm:pt modelId="{CB784185-F2A3-4352-B808-FDF3F8F0B062}" type="pres">
      <dgm:prSet presAssocID="{C2D29530-A9CE-42B8-B398-656B8C0507AD}" presName="connectorText" presStyleLbl="sibTrans2D1" presStyleIdx="3" presStyleCnt="4"/>
      <dgm:spPr/>
    </dgm:pt>
    <dgm:pt modelId="{78A6A621-DB7E-4CF5-B024-E970561D0881}" type="pres">
      <dgm:prSet presAssocID="{CFD9F4A8-8F49-46EB-8248-D2F2858332B2}" presName="node" presStyleLbl="node1" presStyleIdx="4" presStyleCnt="5">
        <dgm:presLayoutVars>
          <dgm:bulletEnabled val="1"/>
        </dgm:presLayoutVars>
      </dgm:prSet>
      <dgm:spPr/>
    </dgm:pt>
  </dgm:ptLst>
  <dgm:cxnLst>
    <dgm:cxn modelId="{1A8AD51E-955F-4650-86EE-D0B3CD1002DA}" type="presOf" srcId="{2749EAB0-47DC-4BC8-B98A-F1C4B1CDC055}" destId="{15EC0465-C381-4505-9DEF-A444DF0EEB1F}" srcOrd="0" destOrd="0" presId="urn:microsoft.com/office/officeart/2005/8/layout/process5"/>
    <dgm:cxn modelId="{4FFB5C43-1FE1-4446-9F81-0E835A160579}" type="presOf" srcId="{C2D29530-A9CE-42B8-B398-656B8C0507AD}" destId="{CB784185-F2A3-4352-B808-FDF3F8F0B062}" srcOrd="1" destOrd="0" presId="urn:microsoft.com/office/officeart/2005/8/layout/process5"/>
    <dgm:cxn modelId="{9FDBEE44-7894-42E7-8DC4-1072485ACD62}" srcId="{2749EAB0-47DC-4BC8-B98A-F1C4B1CDC055}" destId="{CFD9F4A8-8F49-46EB-8248-D2F2858332B2}" srcOrd="4" destOrd="0" parTransId="{1F51B56B-4A42-408E-8AD3-91DC70052A45}" sibTransId="{87DDD48F-837E-4BD2-90A4-CCC504E5CCDE}"/>
    <dgm:cxn modelId="{8FE3FA65-1C2C-4A44-82A1-433A1D3EB317}" type="presOf" srcId="{C1ED0741-A2A4-4592-A7B5-BAD0A9737FF2}" destId="{8BE9D7E8-3E32-404D-9B5C-AA4B219A073A}" srcOrd="1" destOrd="0" presId="urn:microsoft.com/office/officeart/2005/8/layout/process5"/>
    <dgm:cxn modelId="{512CD547-ADDE-4497-BF01-6EEA4F3174FA}" type="presOf" srcId="{4BA7DE13-B4A3-45BE-9305-F6D846B26ADF}" destId="{0F726F3D-0148-4497-80F6-A9601C721FCC}" srcOrd="0" destOrd="0" presId="urn:microsoft.com/office/officeart/2005/8/layout/process5"/>
    <dgm:cxn modelId="{087CE953-6915-49E3-9680-62C8B05965A6}" type="presOf" srcId="{C2D29530-A9CE-42B8-B398-656B8C0507AD}" destId="{B3D86ADF-95A7-4556-B69C-8C79A4AFA271}" srcOrd="0" destOrd="0" presId="urn:microsoft.com/office/officeart/2005/8/layout/process5"/>
    <dgm:cxn modelId="{ADA2A156-90C8-4EF3-894D-221EDBC1013C}" type="presOf" srcId="{4D0859F1-E40D-465D-9F97-654388CFA301}" destId="{55B60D7D-51AC-4DC0-AC50-0CCF80EB6D4B}" srcOrd="0" destOrd="0" presId="urn:microsoft.com/office/officeart/2005/8/layout/process5"/>
    <dgm:cxn modelId="{749C1E79-C35D-4266-8C91-2BF9499F2473}" type="presOf" srcId="{4BA7DE13-B4A3-45BE-9305-F6D846B26ADF}" destId="{17DEFEF8-6C7C-40DE-BCBB-F635A30CB03A}" srcOrd="1" destOrd="0" presId="urn:microsoft.com/office/officeart/2005/8/layout/process5"/>
    <dgm:cxn modelId="{BBC83A90-40AB-4AB0-AA67-146F1F866269}" srcId="{2749EAB0-47DC-4BC8-B98A-F1C4B1CDC055}" destId="{E45122C5-4AE7-45E0-8836-3002418D9EB8}" srcOrd="2" destOrd="0" parTransId="{703B8244-4A03-4246-AAE3-49F84548ECBE}" sibTransId="{D6280400-7E6C-47C3-B8DB-FBD9243A8C4E}"/>
    <dgm:cxn modelId="{33246F9E-D784-4CD3-A9AB-15D6704239A6}" type="presOf" srcId="{9EE72B02-570D-4213-A381-A48721AFC140}" destId="{45096BF7-6915-4921-AAF1-CB5B10A5945A}" srcOrd="0" destOrd="0" presId="urn:microsoft.com/office/officeart/2005/8/layout/process5"/>
    <dgm:cxn modelId="{B38DCEB2-A26B-4A3A-B486-84D49DAED9B5}" type="presOf" srcId="{E45122C5-4AE7-45E0-8836-3002418D9EB8}" destId="{51D536EB-92DA-4ADF-9815-EEA3B92073EC}" srcOrd="0" destOrd="0" presId="urn:microsoft.com/office/officeart/2005/8/layout/process5"/>
    <dgm:cxn modelId="{5E3E0EB9-8E37-4DBC-898F-7A99F5F93137}" type="presOf" srcId="{D6280400-7E6C-47C3-B8DB-FBD9243A8C4E}" destId="{BDFB9C2F-EE88-4B24-B25E-4105849CDCE9}" srcOrd="0" destOrd="0" presId="urn:microsoft.com/office/officeart/2005/8/layout/process5"/>
    <dgm:cxn modelId="{5D82F1BA-DCA4-42A5-89BA-17AB8017A0A3}" srcId="{2749EAB0-47DC-4BC8-B98A-F1C4B1CDC055}" destId="{AD8058C0-F2D9-4CA8-B07F-E6ED8F597E15}" srcOrd="1" destOrd="0" parTransId="{2D1EEC91-9A33-46A8-ACCA-A26104037240}" sibTransId="{4BA7DE13-B4A3-45BE-9305-F6D846B26ADF}"/>
    <dgm:cxn modelId="{9B742AC7-5CA2-430B-A014-DAE986B59198}" type="presOf" srcId="{C1ED0741-A2A4-4592-A7B5-BAD0A9737FF2}" destId="{0ED19674-ECA7-4D38-BA39-7EC829FC1A36}" srcOrd="0" destOrd="0" presId="urn:microsoft.com/office/officeart/2005/8/layout/process5"/>
    <dgm:cxn modelId="{6004F8D9-57CC-4F67-A461-E4ADEE0A735F}" srcId="{2749EAB0-47DC-4BC8-B98A-F1C4B1CDC055}" destId="{9EE72B02-570D-4213-A381-A48721AFC140}" srcOrd="3" destOrd="0" parTransId="{A2E3C428-439B-45A9-88D6-D6B3F74CED63}" sibTransId="{C2D29530-A9CE-42B8-B398-656B8C0507AD}"/>
    <dgm:cxn modelId="{5DD7CADC-F305-4752-B77A-E07BEE138EDD}" type="presOf" srcId="{D6280400-7E6C-47C3-B8DB-FBD9243A8C4E}" destId="{1FBAAD25-7098-4991-99D8-315889937B9A}" srcOrd="1" destOrd="0" presId="urn:microsoft.com/office/officeart/2005/8/layout/process5"/>
    <dgm:cxn modelId="{55CEE0DF-D398-4BDC-9E82-BA77CC9DC04E}" srcId="{2749EAB0-47DC-4BC8-B98A-F1C4B1CDC055}" destId="{4D0859F1-E40D-465D-9F97-654388CFA301}" srcOrd="0" destOrd="0" parTransId="{16406538-5152-4DB6-BB81-F8861D0E4BEA}" sibTransId="{C1ED0741-A2A4-4592-A7B5-BAD0A9737FF2}"/>
    <dgm:cxn modelId="{8068ACF0-2D7F-4014-913B-A787D8CDB8A8}" type="presOf" srcId="{AD8058C0-F2D9-4CA8-B07F-E6ED8F597E15}" destId="{DDFCCA3A-D7CE-4B2F-B735-63D43D91A54F}" srcOrd="0" destOrd="0" presId="urn:microsoft.com/office/officeart/2005/8/layout/process5"/>
    <dgm:cxn modelId="{64A6D5F3-1541-47EE-B902-993313952D21}" type="presOf" srcId="{CFD9F4A8-8F49-46EB-8248-D2F2858332B2}" destId="{78A6A621-DB7E-4CF5-B024-E970561D0881}" srcOrd="0" destOrd="0" presId="urn:microsoft.com/office/officeart/2005/8/layout/process5"/>
    <dgm:cxn modelId="{BF362663-8C1F-4FF6-A401-40BAD6D1E1A8}" type="presParOf" srcId="{15EC0465-C381-4505-9DEF-A444DF0EEB1F}" destId="{55B60D7D-51AC-4DC0-AC50-0CCF80EB6D4B}" srcOrd="0" destOrd="0" presId="urn:microsoft.com/office/officeart/2005/8/layout/process5"/>
    <dgm:cxn modelId="{961AFFBA-B11D-499A-9710-D1D191CDCEF6}" type="presParOf" srcId="{15EC0465-C381-4505-9DEF-A444DF0EEB1F}" destId="{0ED19674-ECA7-4D38-BA39-7EC829FC1A36}" srcOrd="1" destOrd="0" presId="urn:microsoft.com/office/officeart/2005/8/layout/process5"/>
    <dgm:cxn modelId="{7C3810DA-EFEC-4112-9952-FF548E3E118C}" type="presParOf" srcId="{0ED19674-ECA7-4D38-BA39-7EC829FC1A36}" destId="{8BE9D7E8-3E32-404D-9B5C-AA4B219A073A}" srcOrd="0" destOrd="0" presId="urn:microsoft.com/office/officeart/2005/8/layout/process5"/>
    <dgm:cxn modelId="{F0931C62-2696-406D-A623-077C9B68910E}" type="presParOf" srcId="{15EC0465-C381-4505-9DEF-A444DF0EEB1F}" destId="{DDFCCA3A-D7CE-4B2F-B735-63D43D91A54F}" srcOrd="2" destOrd="0" presId="urn:microsoft.com/office/officeart/2005/8/layout/process5"/>
    <dgm:cxn modelId="{A8C40CC3-72B0-48C4-9600-7BED1CD46FED}" type="presParOf" srcId="{15EC0465-C381-4505-9DEF-A444DF0EEB1F}" destId="{0F726F3D-0148-4497-80F6-A9601C721FCC}" srcOrd="3" destOrd="0" presId="urn:microsoft.com/office/officeart/2005/8/layout/process5"/>
    <dgm:cxn modelId="{48C559D3-B298-41F7-A348-0C5908061A15}" type="presParOf" srcId="{0F726F3D-0148-4497-80F6-A9601C721FCC}" destId="{17DEFEF8-6C7C-40DE-BCBB-F635A30CB03A}" srcOrd="0" destOrd="0" presId="urn:microsoft.com/office/officeart/2005/8/layout/process5"/>
    <dgm:cxn modelId="{3DA316FF-37CC-496F-BC9C-34DD41C1B38E}" type="presParOf" srcId="{15EC0465-C381-4505-9DEF-A444DF0EEB1F}" destId="{51D536EB-92DA-4ADF-9815-EEA3B92073EC}" srcOrd="4" destOrd="0" presId="urn:microsoft.com/office/officeart/2005/8/layout/process5"/>
    <dgm:cxn modelId="{DB5ED8F9-A627-4204-BA2C-732095ECF29E}" type="presParOf" srcId="{15EC0465-C381-4505-9DEF-A444DF0EEB1F}" destId="{BDFB9C2F-EE88-4B24-B25E-4105849CDCE9}" srcOrd="5" destOrd="0" presId="urn:microsoft.com/office/officeart/2005/8/layout/process5"/>
    <dgm:cxn modelId="{7A506FB0-C879-46F1-9B49-C9640B1FE3F8}" type="presParOf" srcId="{BDFB9C2F-EE88-4B24-B25E-4105849CDCE9}" destId="{1FBAAD25-7098-4991-99D8-315889937B9A}" srcOrd="0" destOrd="0" presId="urn:microsoft.com/office/officeart/2005/8/layout/process5"/>
    <dgm:cxn modelId="{F224C7AF-A6F0-4060-960F-030E3EFB9498}" type="presParOf" srcId="{15EC0465-C381-4505-9DEF-A444DF0EEB1F}" destId="{45096BF7-6915-4921-AAF1-CB5B10A5945A}" srcOrd="6" destOrd="0" presId="urn:microsoft.com/office/officeart/2005/8/layout/process5"/>
    <dgm:cxn modelId="{145B12E6-71A0-4DE3-AA7C-562764E53CC2}" type="presParOf" srcId="{15EC0465-C381-4505-9DEF-A444DF0EEB1F}" destId="{B3D86ADF-95A7-4556-B69C-8C79A4AFA271}" srcOrd="7" destOrd="0" presId="urn:microsoft.com/office/officeart/2005/8/layout/process5"/>
    <dgm:cxn modelId="{BC6AA093-3F4E-4775-909E-5CE2E0827EA7}" type="presParOf" srcId="{B3D86ADF-95A7-4556-B69C-8C79A4AFA271}" destId="{CB784185-F2A3-4352-B808-FDF3F8F0B062}" srcOrd="0" destOrd="0" presId="urn:microsoft.com/office/officeart/2005/8/layout/process5"/>
    <dgm:cxn modelId="{65670D3C-DFDD-4715-8184-58E6AFCAE702}" type="presParOf" srcId="{15EC0465-C381-4505-9DEF-A444DF0EEB1F}" destId="{78A6A621-DB7E-4CF5-B024-E970561D0881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AF32925-4007-4321-98D9-60413D6D2B0E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C6CD3BC-3122-493C-8104-0F985EB787F1}">
      <dgm:prSet/>
      <dgm:spPr/>
      <dgm:t>
        <a:bodyPr/>
        <a:lstStyle/>
        <a:p>
          <a:r>
            <a:rPr lang="el-GR" b="1" i="0"/>
            <a:t>Η Κυριαρχία του Feature Engineering:</a:t>
          </a:r>
          <a:r>
            <a:rPr lang="el-GR" b="0" i="0"/>
            <a:t> Η ενσωμάτωση εμπορικής λογικής στα δεδομένα (Κυκλικός Χρόνος, Εβδομαδιαία Lags, EWMA) αποδείχθηκε πιο καθοριστική για την ακρίβεια από την ίδια την πολυπλοκότητα του αλγορίθμου.</a:t>
          </a:r>
          <a:endParaRPr lang="en-US"/>
        </a:p>
      </dgm:t>
    </dgm:pt>
    <dgm:pt modelId="{377E3DB2-4729-4C9E-85D2-D374AE051DD9}" type="parTrans" cxnId="{45D2B003-19F9-4DD9-BFF5-218F7FF25AEE}">
      <dgm:prSet/>
      <dgm:spPr/>
      <dgm:t>
        <a:bodyPr/>
        <a:lstStyle/>
        <a:p>
          <a:endParaRPr lang="en-US"/>
        </a:p>
      </dgm:t>
    </dgm:pt>
    <dgm:pt modelId="{21BED9D0-CAC7-4258-A72D-FDDFFF17F2D6}" type="sibTrans" cxnId="{45D2B003-19F9-4DD9-BFF5-218F7FF25AEE}">
      <dgm:prSet/>
      <dgm:spPr/>
      <dgm:t>
        <a:bodyPr/>
        <a:lstStyle/>
        <a:p>
          <a:endParaRPr lang="en-US"/>
        </a:p>
      </dgm:t>
    </dgm:pt>
    <dgm:pt modelId="{02B8297E-9474-4FA0-A6EC-EA51D5C9C526}">
      <dgm:prSet/>
      <dgm:spPr/>
      <dgm:t>
        <a:bodyPr/>
        <a:lstStyle/>
        <a:p>
          <a:r>
            <a:rPr lang="el-GR" b="1" i="0"/>
            <a:t>Ο Θρίαμβος των Δέντρων (Boosting vs. DL):</a:t>
          </a:r>
          <a:r>
            <a:rPr lang="el-GR" b="0" i="0"/>
            <a:t> Για τα δομημένα δεδομένα λιανικής, το CatBoost υπερτέρησε ξεκάθαρα του LSTM, αποδεικνύοντας ότι τα μοντέλα Gradient Boosting παραμένουν η κορυφαία επιλογή (State-of-the-Art) συνδυάζοντας ταχύτητα και μέγιστη ακρίβεια.</a:t>
          </a:r>
          <a:endParaRPr lang="en-US"/>
        </a:p>
      </dgm:t>
    </dgm:pt>
    <dgm:pt modelId="{99B1E97B-2B93-4CE2-B114-0B3A7C145E06}" type="parTrans" cxnId="{07F1091B-9655-4095-A3FC-70F1DA1ED38C}">
      <dgm:prSet/>
      <dgm:spPr/>
      <dgm:t>
        <a:bodyPr/>
        <a:lstStyle/>
        <a:p>
          <a:endParaRPr lang="en-US"/>
        </a:p>
      </dgm:t>
    </dgm:pt>
    <dgm:pt modelId="{72D6D7AA-EAD2-4456-8350-FA1187CA433C}" type="sibTrans" cxnId="{07F1091B-9655-4095-A3FC-70F1DA1ED38C}">
      <dgm:prSet/>
      <dgm:spPr/>
      <dgm:t>
        <a:bodyPr/>
        <a:lstStyle/>
        <a:p>
          <a:endParaRPr lang="en-US"/>
        </a:p>
      </dgm:t>
    </dgm:pt>
    <dgm:pt modelId="{71DBD3D4-6F7D-4ED4-8239-7345FADE928F}">
      <dgm:prSet/>
      <dgm:spPr/>
      <dgm:t>
        <a:bodyPr/>
        <a:lstStyle/>
        <a:p>
          <a:r>
            <a:rPr lang="el-GR" b="1" i="0"/>
            <a:t>Διαφάνεια μέσω Explainable AI (SHAP):</a:t>
          </a:r>
          <a:r>
            <a:rPr lang="el-GR" b="0" i="0"/>
            <a:t> Η αποκωδικοποίηση του "μαύρου κουτιού" επιβεβαίωσε εμπειρικά την οικονομική θεωρία (ελαστικότητα τιμής) και ανέδειξε την απόλυτη κρισιμότητα του αποθέματος (Inventory Bottleneck).</a:t>
          </a:r>
          <a:endParaRPr lang="en-US"/>
        </a:p>
      </dgm:t>
    </dgm:pt>
    <dgm:pt modelId="{B73C95E3-2D32-42A2-AFC2-710996A02062}" type="parTrans" cxnId="{33EB0340-A68F-4BEC-AC6D-8F8FDAD64DB0}">
      <dgm:prSet/>
      <dgm:spPr/>
      <dgm:t>
        <a:bodyPr/>
        <a:lstStyle/>
        <a:p>
          <a:endParaRPr lang="en-US"/>
        </a:p>
      </dgm:t>
    </dgm:pt>
    <dgm:pt modelId="{23FB38C6-A069-4092-96FA-1F2CC28B93C2}" type="sibTrans" cxnId="{33EB0340-A68F-4BEC-AC6D-8F8FDAD64DB0}">
      <dgm:prSet/>
      <dgm:spPr/>
      <dgm:t>
        <a:bodyPr/>
        <a:lstStyle/>
        <a:p>
          <a:endParaRPr lang="en-US"/>
        </a:p>
      </dgm:t>
    </dgm:pt>
    <dgm:pt modelId="{77D7782F-6F88-4436-BC7F-9A65543E39E5}">
      <dgm:prSet/>
      <dgm:spPr/>
      <dgm:t>
        <a:bodyPr/>
        <a:lstStyle/>
        <a:p>
          <a:r>
            <a:rPr lang="el-GR" b="1" i="0"/>
            <a:t>Από την Πρόβλεψη στη Δράση (Prescriptive Analytics):</a:t>
          </a:r>
          <a:r>
            <a:rPr lang="el-GR" b="0" i="0"/>
            <a:t> Ο τελικός Προσομοιωτής Αποφάσεων γεφυρώνει το χάσμα μεταξύ Data Science και Διοίκησης. Μετατρέπει τον αλγόριθμο από παθητικό εργαλείο πρόβλεψης σε δυναμικό στρατηγικό σύμμαχο για τη μεγιστοποίηση του τζίρου.</a:t>
          </a:r>
          <a:endParaRPr lang="en-US"/>
        </a:p>
      </dgm:t>
    </dgm:pt>
    <dgm:pt modelId="{635482F1-8AAB-465C-9D8D-BB070458B547}" type="parTrans" cxnId="{761DDAE7-2B55-4D69-B443-36346A152E9C}">
      <dgm:prSet/>
      <dgm:spPr/>
      <dgm:t>
        <a:bodyPr/>
        <a:lstStyle/>
        <a:p>
          <a:endParaRPr lang="en-US"/>
        </a:p>
      </dgm:t>
    </dgm:pt>
    <dgm:pt modelId="{3C5C1F5D-5C93-4715-B841-4E101243DB7F}" type="sibTrans" cxnId="{761DDAE7-2B55-4D69-B443-36346A152E9C}">
      <dgm:prSet/>
      <dgm:spPr/>
      <dgm:t>
        <a:bodyPr/>
        <a:lstStyle/>
        <a:p>
          <a:endParaRPr lang="en-US"/>
        </a:p>
      </dgm:t>
    </dgm:pt>
    <dgm:pt modelId="{E1DAFE5A-02C8-4F66-8F64-BA27672D9EE4}" type="pres">
      <dgm:prSet presAssocID="{3AF32925-4007-4321-98D9-60413D6D2B0E}" presName="outerComposite" presStyleCnt="0">
        <dgm:presLayoutVars>
          <dgm:chMax val="5"/>
          <dgm:dir/>
          <dgm:resizeHandles val="exact"/>
        </dgm:presLayoutVars>
      </dgm:prSet>
      <dgm:spPr/>
    </dgm:pt>
    <dgm:pt modelId="{7E9138CB-F8E3-4983-AC94-CB6ED95A5B6A}" type="pres">
      <dgm:prSet presAssocID="{3AF32925-4007-4321-98D9-60413D6D2B0E}" presName="dummyMaxCanvas" presStyleCnt="0">
        <dgm:presLayoutVars/>
      </dgm:prSet>
      <dgm:spPr/>
    </dgm:pt>
    <dgm:pt modelId="{3553D4DC-8707-467A-8342-55296859CCEA}" type="pres">
      <dgm:prSet presAssocID="{3AF32925-4007-4321-98D9-60413D6D2B0E}" presName="FourNodes_1" presStyleLbl="node1" presStyleIdx="0" presStyleCnt="4">
        <dgm:presLayoutVars>
          <dgm:bulletEnabled val="1"/>
        </dgm:presLayoutVars>
      </dgm:prSet>
      <dgm:spPr/>
    </dgm:pt>
    <dgm:pt modelId="{1513287B-F5B8-4EEF-9123-A1A9E96E157B}" type="pres">
      <dgm:prSet presAssocID="{3AF32925-4007-4321-98D9-60413D6D2B0E}" presName="FourNodes_2" presStyleLbl="node1" presStyleIdx="1" presStyleCnt="4">
        <dgm:presLayoutVars>
          <dgm:bulletEnabled val="1"/>
        </dgm:presLayoutVars>
      </dgm:prSet>
      <dgm:spPr/>
    </dgm:pt>
    <dgm:pt modelId="{2B4303AD-5C9A-4007-B0D6-60118B25AAFF}" type="pres">
      <dgm:prSet presAssocID="{3AF32925-4007-4321-98D9-60413D6D2B0E}" presName="FourNodes_3" presStyleLbl="node1" presStyleIdx="2" presStyleCnt="4">
        <dgm:presLayoutVars>
          <dgm:bulletEnabled val="1"/>
        </dgm:presLayoutVars>
      </dgm:prSet>
      <dgm:spPr/>
    </dgm:pt>
    <dgm:pt modelId="{8D7DADEB-8E19-4ED7-A0A3-B739535F831A}" type="pres">
      <dgm:prSet presAssocID="{3AF32925-4007-4321-98D9-60413D6D2B0E}" presName="FourNodes_4" presStyleLbl="node1" presStyleIdx="3" presStyleCnt="4">
        <dgm:presLayoutVars>
          <dgm:bulletEnabled val="1"/>
        </dgm:presLayoutVars>
      </dgm:prSet>
      <dgm:spPr/>
    </dgm:pt>
    <dgm:pt modelId="{A7BDF8F0-FA67-43BA-8E6D-70A6BF487010}" type="pres">
      <dgm:prSet presAssocID="{3AF32925-4007-4321-98D9-60413D6D2B0E}" presName="FourConn_1-2" presStyleLbl="fgAccFollowNode1" presStyleIdx="0" presStyleCnt="3">
        <dgm:presLayoutVars>
          <dgm:bulletEnabled val="1"/>
        </dgm:presLayoutVars>
      </dgm:prSet>
      <dgm:spPr/>
    </dgm:pt>
    <dgm:pt modelId="{CD96EF38-4E08-4AB2-9CC6-9DAC8E2F855A}" type="pres">
      <dgm:prSet presAssocID="{3AF32925-4007-4321-98D9-60413D6D2B0E}" presName="FourConn_2-3" presStyleLbl="fgAccFollowNode1" presStyleIdx="1" presStyleCnt="3">
        <dgm:presLayoutVars>
          <dgm:bulletEnabled val="1"/>
        </dgm:presLayoutVars>
      </dgm:prSet>
      <dgm:spPr/>
    </dgm:pt>
    <dgm:pt modelId="{C38F7E77-0A6E-4695-B259-0DAAB2E3434F}" type="pres">
      <dgm:prSet presAssocID="{3AF32925-4007-4321-98D9-60413D6D2B0E}" presName="FourConn_3-4" presStyleLbl="fgAccFollowNode1" presStyleIdx="2" presStyleCnt="3">
        <dgm:presLayoutVars>
          <dgm:bulletEnabled val="1"/>
        </dgm:presLayoutVars>
      </dgm:prSet>
      <dgm:spPr/>
    </dgm:pt>
    <dgm:pt modelId="{D2FEFB88-91D5-4320-999E-50129A392E91}" type="pres">
      <dgm:prSet presAssocID="{3AF32925-4007-4321-98D9-60413D6D2B0E}" presName="FourNodes_1_text" presStyleLbl="node1" presStyleIdx="3" presStyleCnt="4">
        <dgm:presLayoutVars>
          <dgm:bulletEnabled val="1"/>
        </dgm:presLayoutVars>
      </dgm:prSet>
      <dgm:spPr/>
    </dgm:pt>
    <dgm:pt modelId="{6F2740E4-4FC4-4BAE-BE90-53B7ABE33701}" type="pres">
      <dgm:prSet presAssocID="{3AF32925-4007-4321-98D9-60413D6D2B0E}" presName="FourNodes_2_text" presStyleLbl="node1" presStyleIdx="3" presStyleCnt="4">
        <dgm:presLayoutVars>
          <dgm:bulletEnabled val="1"/>
        </dgm:presLayoutVars>
      </dgm:prSet>
      <dgm:spPr/>
    </dgm:pt>
    <dgm:pt modelId="{0B12727A-24B9-41ED-9E66-40B39939A15F}" type="pres">
      <dgm:prSet presAssocID="{3AF32925-4007-4321-98D9-60413D6D2B0E}" presName="FourNodes_3_text" presStyleLbl="node1" presStyleIdx="3" presStyleCnt="4">
        <dgm:presLayoutVars>
          <dgm:bulletEnabled val="1"/>
        </dgm:presLayoutVars>
      </dgm:prSet>
      <dgm:spPr/>
    </dgm:pt>
    <dgm:pt modelId="{363720D1-2A22-475B-AD0F-880B6C9E6DC9}" type="pres">
      <dgm:prSet presAssocID="{3AF32925-4007-4321-98D9-60413D6D2B0E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45D2B003-19F9-4DD9-BFF5-218F7FF25AEE}" srcId="{3AF32925-4007-4321-98D9-60413D6D2B0E}" destId="{4C6CD3BC-3122-493C-8104-0F985EB787F1}" srcOrd="0" destOrd="0" parTransId="{377E3DB2-4729-4C9E-85D2-D374AE051DD9}" sibTransId="{21BED9D0-CAC7-4258-A72D-FDDFFF17F2D6}"/>
    <dgm:cxn modelId="{EAC24A10-6F45-4B1C-8CD8-F71D6C9E12C9}" type="presOf" srcId="{21BED9D0-CAC7-4258-A72D-FDDFFF17F2D6}" destId="{A7BDF8F0-FA67-43BA-8E6D-70A6BF487010}" srcOrd="0" destOrd="0" presId="urn:microsoft.com/office/officeart/2005/8/layout/vProcess5"/>
    <dgm:cxn modelId="{2E526911-13F3-4A2D-BF58-51CA2B5AEF26}" type="presOf" srcId="{3AF32925-4007-4321-98D9-60413D6D2B0E}" destId="{E1DAFE5A-02C8-4F66-8F64-BA27672D9EE4}" srcOrd="0" destOrd="0" presId="urn:microsoft.com/office/officeart/2005/8/layout/vProcess5"/>
    <dgm:cxn modelId="{07F1091B-9655-4095-A3FC-70F1DA1ED38C}" srcId="{3AF32925-4007-4321-98D9-60413D6D2B0E}" destId="{02B8297E-9474-4FA0-A6EC-EA51D5C9C526}" srcOrd="1" destOrd="0" parTransId="{99B1E97B-2B93-4CE2-B114-0B3A7C145E06}" sibTransId="{72D6D7AA-EAD2-4456-8350-FA1187CA433C}"/>
    <dgm:cxn modelId="{51566E26-7B01-4493-AC25-8D9B3C4DCD96}" type="presOf" srcId="{71DBD3D4-6F7D-4ED4-8239-7345FADE928F}" destId="{2B4303AD-5C9A-4007-B0D6-60118B25AAFF}" srcOrd="0" destOrd="0" presId="urn:microsoft.com/office/officeart/2005/8/layout/vProcess5"/>
    <dgm:cxn modelId="{33EB0340-A68F-4BEC-AC6D-8F8FDAD64DB0}" srcId="{3AF32925-4007-4321-98D9-60413D6D2B0E}" destId="{71DBD3D4-6F7D-4ED4-8239-7345FADE928F}" srcOrd="2" destOrd="0" parTransId="{B73C95E3-2D32-42A2-AFC2-710996A02062}" sibTransId="{23FB38C6-A069-4092-96FA-1F2CC28B93C2}"/>
    <dgm:cxn modelId="{6FE56442-3513-4624-81D4-25F58303B37C}" type="presOf" srcId="{23FB38C6-A069-4092-96FA-1F2CC28B93C2}" destId="{C38F7E77-0A6E-4695-B259-0DAAB2E3434F}" srcOrd="0" destOrd="0" presId="urn:microsoft.com/office/officeart/2005/8/layout/vProcess5"/>
    <dgm:cxn modelId="{2D2E9B6E-560B-4598-8F17-C7CA6D3F5D2E}" type="presOf" srcId="{4C6CD3BC-3122-493C-8104-0F985EB787F1}" destId="{D2FEFB88-91D5-4320-999E-50129A392E91}" srcOrd="1" destOrd="0" presId="urn:microsoft.com/office/officeart/2005/8/layout/vProcess5"/>
    <dgm:cxn modelId="{7B374457-EF9A-4F11-8463-4B761A1FDE75}" type="presOf" srcId="{77D7782F-6F88-4436-BC7F-9A65543E39E5}" destId="{8D7DADEB-8E19-4ED7-A0A3-B739535F831A}" srcOrd="0" destOrd="0" presId="urn:microsoft.com/office/officeart/2005/8/layout/vProcess5"/>
    <dgm:cxn modelId="{3ED4F189-F284-4D50-B1B3-107F802734A4}" type="presOf" srcId="{02B8297E-9474-4FA0-A6EC-EA51D5C9C526}" destId="{1513287B-F5B8-4EEF-9123-A1A9E96E157B}" srcOrd="0" destOrd="0" presId="urn:microsoft.com/office/officeart/2005/8/layout/vProcess5"/>
    <dgm:cxn modelId="{E843948D-7D00-445B-B49D-C3A3C9EF1B6C}" type="presOf" srcId="{71DBD3D4-6F7D-4ED4-8239-7345FADE928F}" destId="{0B12727A-24B9-41ED-9E66-40B39939A15F}" srcOrd="1" destOrd="0" presId="urn:microsoft.com/office/officeart/2005/8/layout/vProcess5"/>
    <dgm:cxn modelId="{408A288F-2FDB-4821-AF39-30C46F1D5D9A}" type="presOf" srcId="{72D6D7AA-EAD2-4456-8350-FA1187CA433C}" destId="{CD96EF38-4E08-4AB2-9CC6-9DAC8E2F855A}" srcOrd="0" destOrd="0" presId="urn:microsoft.com/office/officeart/2005/8/layout/vProcess5"/>
    <dgm:cxn modelId="{ED280890-7623-4602-BA52-0B9506FFAB31}" type="presOf" srcId="{77D7782F-6F88-4436-BC7F-9A65543E39E5}" destId="{363720D1-2A22-475B-AD0F-880B6C9E6DC9}" srcOrd="1" destOrd="0" presId="urn:microsoft.com/office/officeart/2005/8/layout/vProcess5"/>
    <dgm:cxn modelId="{7314D3A0-2911-46F7-B4D1-55AC9BDAAA36}" type="presOf" srcId="{02B8297E-9474-4FA0-A6EC-EA51D5C9C526}" destId="{6F2740E4-4FC4-4BAE-BE90-53B7ABE33701}" srcOrd="1" destOrd="0" presId="urn:microsoft.com/office/officeart/2005/8/layout/vProcess5"/>
    <dgm:cxn modelId="{B6EA60C0-B82A-4FFD-895F-9CE16D5140EA}" type="presOf" srcId="{4C6CD3BC-3122-493C-8104-0F985EB787F1}" destId="{3553D4DC-8707-467A-8342-55296859CCEA}" srcOrd="0" destOrd="0" presId="urn:microsoft.com/office/officeart/2005/8/layout/vProcess5"/>
    <dgm:cxn modelId="{761DDAE7-2B55-4D69-B443-36346A152E9C}" srcId="{3AF32925-4007-4321-98D9-60413D6D2B0E}" destId="{77D7782F-6F88-4436-BC7F-9A65543E39E5}" srcOrd="3" destOrd="0" parTransId="{635482F1-8AAB-465C-9D8D-BB070458B547}" sibTransId="{3C5C1F5D-5C93-4715-B841-4E101243DB7F}"/>
    <dgm:cxn modelId="{8A846DD4-368D-436D-8EB9-6D397D896F8A}" type="presParOf" srcId="{E1DAFE5A-02C8-4F66-8F64-BA27672D9EE4}" destId="{7E9138CB-F8E3-4983-AC94-CB6ED95A5B6A}" srcOrd="0" destOrd="0" presId="urn:microsoft.com/office/officeart/2005/8/layout/vProcess5"/>
    <dgm:cxn modelId="{635060CD-BC27-455E-87F9-AEA02725B5A0}" type="presParOf" srcId="{E1DAFE5A-02C8-4F66-8F64-BA27672D9EE4}" destId="{3553D4DC-8707-467A-8342-55296859CCEA}" srcOrd="1" destOrd="0" presId="urn:microsoft.com/office/officeart/2005/8/layout/vProcess5"/>
    <dgm:cxn modelId="{334D2AF3-C17B-461F-8637-6D15D5FB7177}" type="presParOf" srcId="{E1DAFE5A-02C8-4F66-8F64-BA27672D9EE4}" destId="{1513287B-F5B8-4EEF-9123-A1A9E96E157B}" srcOrd="2" destOrd="0" presId="urn:microsoft.com/office/officeart/2005/8/layout/vProcess5"/>
    <dgm:cxn modelId="{DFCE3E7F-1650-4976-8BA9-9407F2682407}" type="presParOf" srcId="{E1DAFE5A-02C8-4F66-8F64-BA27672D9EE4}" destId="{2B4303AD-5C9A-4007-B0D6-60118B25AAFF}" srcOrd="3" destOrd="0" presId="urn:microsoft.com/office/officeart/2005/8/layout/vProcess5"/>
    <dgm:cxn modelId="{3D0D8826-7B23-4AEC-AFA8-C3333A36074B}" type="presParOf" srcId="{E1DAFE5A-02C8-4F66-8F64-BA27672D9EE4}" destId="{8D7DADEB-8E19-4ED7-A0A3-B739535F831A}" srcOrd="4" destOrd="0" presId="urn:microsoft.com/office/officeart/2005/8/layout/vProcess5"/>
    <dgm:cxn modelId="{4E411E03-36FE-4403-8971-59A30C3B845F}" type="presParOf" srcId="{E1DAFE5A-02C8-4F66-8F64-BA27672D9EE4}" destId="{A7BDF8F0-FA67-43BA-8E6D-70A6BF487010}" srcOrd="5" destOrd="0" presId="urn:microsoft.com/office/officeart/2005/8/layout/vProcess5"/>
    <dgm:cxn modelId="{E63275F0-D8E8-42F1-BE97-46A738B62C53}" type="presParOf" srcId="{E1DAFE5A-02C8-4F66-8F64-BA27672D9EE4}" destId="{CD96EF38-4E08-4AB2-9CC6-9DAC8E2F855A}" srcOrd="6" destOrd="0" presId="urn:microsoft.com/office/officeart/2005/8/layout/vProcess5"/>
    <dgm:cxn modelId="{152B9557-590A-407A-BC13-90400952A91D}" type="presParOf" srcId="{E1DAFE5A-02C8-4F66-8F64-BA27672D9EE4}" destId="{C38F7E77-0A6E-4695-B259-0DAAB2E3434F}" srcOrd="7" destOrd="0" presId="urn:microsoft.com/office/officeart/2005/8/layout/vProcess5"/>
    <dgm:cxn modelId="{8027F195-5E2A-4013-A147-C9F946C8A000}" type="presParOf" srcId="{E1DAFE5A-02C8-4F66-8F64-BA27672D9EE4}" destId="{D2FEFB88-91D5-4320-999E-50129A392E91}" srcOrd="8" destOrd="0" presId="urn:microsoft.com/office/officeart/2005/8/layout/vProcess5"/>
    <dgm:cxn modelId="{2C9F3748-83E9-4EAE-85BF-A093CE0AC38E}" type="presParOf" srcId="{E1DAFE5A-02C8-4F66-8F64-BA27672D9EE4}" destId="{6F2740E4-4FC4-4BAE-BE90-53B7ABE33701}" srcOrd="9" destOrd="0" presId="urn:microsoft.com/office/officeart/2005/8/layout/vProcess5"/>
    <dgm:cxn modelId="{4D590354-1A30-430D-88FC-C76D603E9F55}" type="presParOf" srcId="{E1DAFE5A-02C8-4F66-8F64-BA27672D9EE4}" destId="{0B12727A-24B9-41ED-9E66-40B39939A15F}" srcOrd="10" destOrd="0" presId="urn:microsoft.com/office/officeart/2005/8/layout/vProcess5"/>
    <dgm:cxn modelId="{667C0F19-0F3A-46E8-A702-522439A59AF9}" type="presParOf" srcId="{E1DAFE5A-02C8-4F66-8F64-BA27672D9EE4}" destId="{363720D1-2A22-475B-AD0F-880B6C9E6DC9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B60D7D-51AC-4DC0-AC50-0CCF80EB6D4B}">
      <dsp:nvSpPr>
        <dsp:cNvPr id="0" name=""/>
        <dsp:cNvSpPr/>
      </dsp:nvSpPr>
      <dsp:spPr>
        <a:xfrm>
          <a:off x="355023" y="859"/>
          <a:ext cx="2366035" cy="14196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200" b="1" i="0" kern="1200" dirty="0"/>
            <a:t>Ordered Boosting:</a:t>
          </a:r>
          <a:r>
            <a:rPr lang="el-GR" sz="1200" b="0" i="0" kern="1200" dirty="0"/>
            <a:t> Πρωτοποριακή τεχνική που εξαλείφει τη διαρροή στόχου (target leakage) κατά την εκπαίδευση, εξασφαλίζοντας αμερόληπτες προβλέψεις.</a:t>
          </a:r>
          <a:endParaRPr lang="en-US" sz="1200" kern="1200" dirty="0"/>
        </a:p>
      </dsp:txBody>
      <dsp:txXfrm>
        <a:off x="396602" y="42438"/>
        <a:ext cx="2282877" cy="1336463"/>
      </dsp:txXfrm>
    </dsp:sp>
    <dsp:sp modelId="{0ED19674-ECA7-4D38-BA39-7EC829FC1A36}">
      <dsp:nvSpPr>
        <dsp:cNvPr id="0" name=""/>
        <dsp:cNvSpPr/>
      </dsp:nvSpPr>
      <dsp:spPr>
        <a:xfrm>
          <a:off x="2929269" y="417281"/>
          <a:ext cx="501599" cy="5867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2929269" y="534636"/>
        <a:ext cx="351119" cy="352066"/>
      </dsp:txXfrm>
    </dsp:sp>
    <dsp:sp modelId="{DDFCCA3A-D7CE-4B2F-B735-63D43D91A54F}">
      <dsp:nvSpPr>
        <dsp:cNvPr id="0" name=""/>
        <dsp:cNvSpPr/>
      </dsp:nvSpPr>
      <dsp:spPr>
        <a:xfrm>
          <a:off x="3667472" y="859"/>
          <a:ext cx="2366035" cy="14196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200" b="1" i="0" kern="1200"/>
            <a:t>Εγγενής Διαχείριση Κατηγορικών Δεδομένων:</a:t>
          </a:r>
          <a:r>
            <a:rPr lang="el-GR" sz="1200" b="0" i="0" kern="1200"/>
            <a:t> Χρήση </a:t>
          </a:r>
          <a:r>
            <a:rPr lang="el-GR" sz="1200" b="0" i="1" kern="1200"/>
            <a:t>Ordered Target Statistics</a:t>
          </a:r>
          <a:r>
            <a:rPr lang="el-GR" sz="1200" b="0" i="0" kern="1200"/>
            <a:t> για τον χειρισμό μεταβλητών υψηλής καρδινικότητας (π.χ. Store ID, Category) χωρίς την ανάγκη για One-Hot Encoding.</a:t>
          </a:r>
          <a:endParaRPr lang="en-US" sz="1200" kern="1200"/>
        </a:p>
      </dsp:txBody>
      <dsp:txXfrm>
        <a:off x="3709051" y="42438"/>
        <a:ext cx="2282877" cy="1336463"/>
      </dsp:txXfrm>
    </dsp:sp>
    <dsp:sp modelId="{0F726F3D-0148-4497-80F6-A9601C721FCC}">
      <dsp:nvSpPr>
        <dsp:cNvPr id="0" name=""/>
        <dsp:cNvSpPr/>
      </dsp:nvSpPr>
      <dsp:spPr>
        <a:xfrm>
          <a:off x="6241719" y="417281"/>
          <a:ext cx="501599" cy="5867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6241719" y="534636"/>
        <a:ext cx="351119" cy="352066"/>
      </dsp:txXfrm>
    </dsp:sp>
    <dsp:sp modelId="{51D536EB-92DA-4ADF-9815-EEA3B92073EC}">
      <dsp:nvSpPr>
        <dsp:cNvPr id="0" name=""/>
        <dsp:cNvSpPr/>
      </dsp:nvSpPr>
      <dsp:spPr>
        <a:xfrm>
          <a:off x="6979922" y="859"/>
          <a:ext cx="2366035" cy="14196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200" b="1" i="0" kern="1200"/>
            <a:t>Συμμετρικά Δέντρα (Oblivious Trees):</a:t>
          </a:r>
          <a:r>
            <a:rPr lang="el-GR" sz="1200" b="0" i="0" kern="1200"/>
            <a:t> Χρήση δέντρων απόφασης που εφαρμόζουν το ίδιο split σε κάθε επίπεδο βάθους, δρώντας ως ισχυρός μηχανισμός κανονικοποίησης κατά του overfitting.</a:t>
          </a:r>
          <a:endParaRPr lang="en-US" sz="1200" kern="1200"/>
        </a:p>
      </dsp:txBody>
      <dsp:txXfrm>
        <a:off x="7021501" y="42438"/>
        <a:ext cx="2282877" cy="1336463"/>
      </dsp:txXfrm>
    </dsp:sp>
    <dsp:sp modelId="{BDFB9C2F-EE88-4B24-B25E-4105849CDCE9}">
      <dsp:nvSpPr>
        <dsp:cNvPr id="0" name=""/>
        <dsp:cNvSpPr/>
      </dsp:nvSpPr>
      <dsp:spPr>
        <a:xfrm rot="5400000">
          <a:off x="7912139" y="1586102"/>
          <a:ext cx="501599" cy="5867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-5400000">
        <a:off x="7986906" y="1628690"/>
        <a:ext cx="352066" cy="351119"/>
      </dsp:txXfrm>
    </dsp:sp>
    <dsp:sp modelId="{45096BF7-6915-4921-AAF1-CB5B10A5945A}">
      <dsp:nvSpPr>
        <dsp:cNvPr id="0" name=""/>
        <dsp:cNvSpPr/>
      </dsp:nvSpPr>
      <dsp:spPr>
        <a:xfrm>
          <a:off x="6979922" y="2366894"/>
          <a:ext cx="2366035" cy="14196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200" b="1" i="0" kern="1200"/>
            <a:t>Υπολογιστική Υπεροχή:</a:t>
          </a:r>
          <a:r>
            <a:rPr lang="el-GR" sz="1200" b="0" i="0" kern="1200"/>
            <a:t> Ταχύτητα εξαγωγής προβλέψεων (inference) έως και 8 φορές μεγαλύτερη σε σχέση με άλλες αρχιτεκτονικές GBM.</a:t>
          </a:r>
          <a:endParaRPr lang="en-US" sz="1200" kern="1200"/>
        </a:p>
      </dsp:txBody>
      <dsp:txXfrm>
        <a:off x="7021501" y="2408473"/>
        <a:ext cx="2282877" cy="1336463"/>
      </dsp:txXfrm>
    </dsp:sp>
    <dsp:sp modelId="{B3D86ADF-95A7-4556-B69C-8C79A4AFA271}">
      <dsp:nvSpPr>
        <dsp:cNvPr id="0" name=""/>
        <dsp:cNvSpPr/>
      </dsp:nvSpPr>
      <dsp:spPr>
        <a:xfrm rot="10800000">
          <a:off x="6270111" y="2783316"/>
          <a:ext cx="501599" cy="5867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10800000">
        <a:off x="6420591" y="2900671"/>
        <a:ext cx="351119" cy="352066"/>
      </dsp:txXfrm>
    </dsp:sp>
    <dsp:sp modelId="{78A6A621-DB7E-4CF5-B024-E970561D0881}">
      <dsp:nvSpPr>
        <dsp:cNvPr id="0" name=""/>
        <dsp:cNvSpPr/>
      </dsp:nvSpPr>
      <dsp:spPr>
        <a:xfrm>
          <a:off x="3667472" y="2366894"/>
          <a:ext cx="2366035" cy="14196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200" b="1" i="0" kern="1200"/>
            <a:t>Στρατηγική Επικύρωσης:</a:t>
          </a:r>
          <a:r>
            <a:rPr lang="el-GR" sz="1200" b="0" i="0" kern="1200"/>
            <a:t> Εφαρμογή αυστηρού </a:t>
          </a:r>
          <a:r>
            <a:rPr lang="en-US" sz="1200" b="0" i="0" kern="1200"/>
            <a:t>Time-Series Cross Validation (Walk-Forward) </a:t>
          </a:r>
          <a:r>
            <a:rPr lang="el-GR" sz="1200" b="0" i="0" kern="1200"/>
            <a:t>στα </a:t>
          </a:r>
          <a:r>
            <a:rPr lang="en-US" sz="1200" b="0" i="0" kern="1200"/>
            <a:t>folds </a:t>
          </a:r>
          <a:r>
            <a:rPr lang="el-GR" sz="1200" b="0" i="0" kern="1200"/>
            <a:t>εκπαίδευσης για την πλήρη εξάλειψη του </a:t>
          </a:r>
          <a:r>
            <a:rPr lang="en-US" sz="1200" b="0" i="0" kern="1200"/>
            <a:t>Data Leakage.</a:t>
          </a:r>
          <a:endParaRPr lang="en-US" sz="1200" kern="1200"/>
        </a:p>
      </dsp:txBody>
      <dsp:txXfrm>
        <a:off x="3709051" y="2408473"/>
        <a:ext cx="2282877" cy="13364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53D4DC-8707-467A-8342-55296859CCEA}">
      <dsp:nvSpPr>
        <dsp:cNvPr id="0" name=""/>
        <dsp:cNvSpPr/>
      </dsp:nvSpPr>
      <dsp:spPr>
        <a:xfrm>
          <a:off x="0" y="0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400" b="1" i="0" kern="1200"/>
            <a:t>Η Κυριαρχία του Feature Engineering:</a:t>
          </a:r>
          <a:r>
            <a:rPr lang="el-GR" sz="1400" b="0" i="0" kern="1200"/>
            <a:t> Η ενσωμάτωση εμπορικής λογικής στα δεδομένα (Κυκλικός Χρόνος, Εβδομαδιαία Lags, EWMA) αποδείχθηκε πιο καθοριστική για την ακρίβεια από την ίδια την πολυπλοκότητα του αλγορίθμου.</a:t>
          </a:r>
          <a:endParaRPr lang="en-US" sz="1400" kern="1200"/>
        </a:p>
      </dsp:txBody>
      <dsp:txXfrm>
        <a:off x="27017" y="27017"/>
        <a:ext cx="7668958" cy="868383"/>
      </dsp:txXfrm>
    </dsp:sp>
    <dsp:sp modelId="{1513287B-F5B8-4EEF-9123-A1A9E96E157B}">
      <dsp:nvSpPr>
        <dsp:cNvPr id="0" name=""/>
        <dsp:cNvSpPr/>
      </dsp:nvSpPr>
      <dsp:spPr>
        <a:xfrm>
          <a:off x="732164" y="1090129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400" b="1" i="0" kern="1200"/>
            <a:t>Ο Θρίαμβος των Δέντρων (Boosting vs. DL):</a:t>
          </a:r>
          <a:r>
            <a:rPr lang="el-GR" sz="1400" b="0" i="0" kern="1200"/>
            <a:t> Για τα δομημένα δεδομένα λιανικής, το CatBoost υπερτέρησε ξεκάθαρα του LSTM, αποδεικνύοντας ότι τα μοντέλα Gradient Boosting παραμένουν η κορυφαία επιλογή (State-of-the-Art) συνδυάζοντας ταχύτητα και μέγιστη ακρίβεια.</a:t>
          </a:r>
          <a:endParaRPr lang="en-US" sz="1400" kern="1200"/>
        </a:p>
      </dsp:txBody>
      <dsp:txXfrm>
        <a:off x="759181" y="1117146"/>
        <a:ext cx="7356493" cy="868383"/>
      </dsp:txXfrm>
    </dsp:sp>
    <dsp:sp modelId="{2B4303AD-5C9A-4007-B0D6-60118B25AAFF}">
      <dsp:nvSpPr>
        <dsp:cNvPr id="0" name=""/>
        <dsp:cNvSpPr/>
      </dsp:nvSpPr>
      <dsp:spPr>
        <a:xfrm>
          <a:off x="1453401" y="2180258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400" b="1" i="0" kern="1200"/>
            <a:t>Διαφάνεια μέσω Explainable AI (SHAP):</a:t>
          </a:r>
          <a:r>
            <a:rPr lang="el-GR" sz="1400" b="0" i="0" kern="1200"/>
            <a:t> Η αποκωδικοποίηση του "μαύρου κουτιού" επιβεβαίωσε εμπειρικά την οικονομική θεωρία (ελαστικότητα τιμής) και ανέδειξε την απόλυτη κρισιμότητα του αποθέματος (Inventory Bottleneck).</a:t>
          </a:r>
          <a:endParaRPr lang="en-US" sz="1400" kern="1200"/>
        </a:p>
      </dsp:txBody>
      <dsp:txXfrm>
        <a:off x="1480418" y="2207275"/>
        <a:ext cx="7367421" cy="868383"/>
      </dsp:txXfrm>
    </dsp:sp>
    <dsp:sp modelId="{8D7DADEB-8E19-4ED7-A0A3-B739535F831A}">
      <dsp:nvSpPr>
        <dsp:cNvPr id="0" name=""/>
        <dsp:cNvSpPr/>
      </dsp:nvSpPr>
      <dsp:spPr>
        <a:xfrm>
          <a:off x="2185565" y="3270387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400" b="1" i="0" kern="1200"/>
            <a:t>Από την Πρόβλεψη στη Δράση (Prescriptive Analytics):</a:t>
          </a:r>
          <a:r>
            <a:rPr lang="el-GR" sz="1400" b="0" i="0" kern="1200"/>
            <a:t> Ο τελικός Προσομοιωτής Αποφάσεων γεφυρώνει το χάσμα μεταξύ Data Science και Διοίκησης. Μετατρέπει τον αλγόριθμο από παθητικό εργαλείο πρόβλεψης σε δυναμικό στρατηγικό σύμμαχο για τη μεγιστοποίηση του τζίρου.</a:t>
          </a:r>
          <a:endParaRPr lang="en-US" sz="1400" kern="1200"/>
        </a:p>
      </dsp:txBody>
      <dsp:txXfrm>
        <a:off x="2212582" y="3297404"/>
        <a:ext cx="7356493" cy="868383"/>
      </dsp:txXfrm>
    </dsp:sp>
    <dsp:sp modelId="{A7BDF8F0-FA67-43BA-8E6D-70A6BF487010}">
      <dsp:nvSpPr>
        <dsp:cNvPr id="0" name=""/>
        <dsp:cNvSpPr/>
      </dsp:nvSpPr>
      <dsp:spPr>
        <a:xfrm>
          <a:off x="8142692" y="706487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8277595" y="706487"/>
        <a:ext cx="329765" cy="451177"/>
      </dsp:txXfrm>
    </dsp:sp>
    <dsp:sp modelId="{CD96EF38-4E08-4AB2-9CC6-9DAC8E2F855A}">
      <dsp:nvSpPr>
        <dsp:cNvPr id="0" name=""/>
        <dsp:cNvSpPr/>
      </dsp:nvSpPr>
      <dsp:spPr>
        <a:xfrm>
          <a:off x="8874856" y="179661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9009759" y="1796616"/>
        <a:ext cx="329765" cy="451177"/>
      </dsp:txXfrm>
    </dsp:sp>
    <dsp:sp modelId="{C38F7E77-0A6E-4695-B259-0DAAB2E3434F}">
      <dsp:nvSpPr>
        <dsp:cNvPr id="0" name=""/>
        <dsp:cNvSpPr/>
      </dsp:nvSpPr>
      <dsp:spPr>
        <a:xfrm>
          <a:off x="9596093" y="288674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9730996" y="2886746"/>
        <a:ext cx="329765" cy="4511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>
          <a:extLst>
            <a:ext uri="{FF2B5EF4-FFF2-40B4-BE49-F238E27FC236}">
              <a16:creationId xmlns:a16="http://schemas.microsoft.com/office/drawing/2014/main" id="{372A5F0C-9455-4974-5E86-114ADC067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4:notes">
            <a:extLst>
              <a:ext uri="{FF2B5EF4-FFF2-40B4-BE49-F238E27FC236}">
                <a16:creationId xmlns:a16="http://schemas.microsoft.com/office/drawing/2014/main" id="{7A052A81-6E41-E8BD-6294-BC34B5A4EA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4:notes">
            <a:extLst>
              <a:ext uri="{FF2B5EF4-FFF2-40B4-BE49-F238E27FC236}">
                <a16:creationId xmlns:a16="http://schemas.microsoft.com/office/drawing/2014/main" id="{163216BE-26D4-1E83-29C0-A27E92F757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59018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6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23.png"/><Relationship Id="rId9" Type="http://schemas.microsoft.com/office/2007/relationships/diagramDrawing" Target="../diagrams/drawing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681632"/>
            <a:ext cx="11430000" cy="549473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15327" y="1680567"/>
            <a:ext cx="1076134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Retail Sales Forecasting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971550" y="3471267"/>
            <a:ext cx="1024890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Decision Support Systems using Gradient Boosting &amp; Explainable AI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971550" y="4395192"/>
            <a:ext cx="102489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Χρήστος Λεκοσιώτης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971550" y="4861917"/>
            <a:ext cx="10248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BSc Computing with Foundation (Data Analyst) | CLD6001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971550" y="5261967"/>
            <a:ext cx="10248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Supervisor: Emexidis Christos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809625"/>
            <a:ext cx="5524500" cy="9001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428625"/>
            <a:ext cx="12192000" cy="976357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380999" y="0"/>
            <a:ext cx="5524499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1</a:t>
            </a:r>
            <a:r>
              <a:rPr lang="en-US" sz="2700" b="0" i="0" u="none" strike="noStrike" cap="none" dirty="0">
                <a:solidFill>
                  <a:srgbClr val="F3F0DF"/>
                </a:solidFill>
                <a:latin typeface="+mj-lt"/>
                <a:ea typeface="Merriweather"/>
                <a:cs typeface="Merriweather"/>
                <a:sym typeface="Merriweather"/>
              </a:rPr>
              <a:t>. </a:t>
            </a:r>
            <a:r>
              <a:rPr lang="en-US" sz="2700" b="0" i="0" u="none" strike="noStrike" cap="none" dirty="0" err="1">
                <a:solidFill>
                  <a:srgbClr val="F3F0DF"/>
                </a:solidFill>
                <a:latin typeface="+mj-lt"/>
                <a:ea typeface="Merriweather"/>
                <a:cs typeface="Merriweather"/>
                <a:sym typeface="Merriweather"/>
              </a:rPr>
              <a:t>Το</a:t>
            </a:r>
            <a:r>
              <a:rPr lang="en-US" sz="2700" b="0" i="0" u="none" strike="noStrike" cap="none" dirty="0">
                <a:solidFill>
                  <a:srgbClr val="F3F0DF"/>
                </a:solidFill>
                <a:latin typeface="+mj-lt"/>
                <a:ea typeface="Merriweather"/>
                <a:cs typeface="Merriweather"/>
                <a:sym typeface="Merriweather"/>
              </a:rPr>
              <a:t> Επ</a:t>
            </a:r>
            <a:r>
              <a:rPr lang="en-US" sz="2700" b="0" i="0" u="none" strike="noStrike" cap="none" dirty="0" err="1">
                <a:solidFill>
                  <a:srgbClr val="F3F0DF"/>
                </a:solidFill>
                <a:latin typeface="+mj-lt"/>
                <a:ea typeface="Merriweather"/>
                <a:cs typeface="Merriweather"/>
                <a:sym typeface="Merriweather"/>
              </a:rPr>
              <a:t>ιχειρημ</a:t>
            </a:r>
            <a:r>
              <a:rPr lang="en-US" sz="2700" b="0" i="0" u="none" strike="noStrike" cap="none" dirty="0">
                <a:solidFill>
                  <a:srgbClr val="F3F0DF"/>
                </a:solidFill>
                <a:latin typeface="+mj-lt"/>
                <a:ea typeface="Merriweather"/>
                <a:cs typeface="Merriweather"/>
                <a:sym typeface="Merriweather"/>
              </a:rPr>
              <a:t>ατικό Πρόβλημα</a:t>
            </a:r>
            <a:endParaRPr dirty="0">
              <a:latin typeface="+mj-lt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381000" y="987921"/>
            <a:ext cx="58007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Inventory Management Paradox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381000" y="1378446"/>
            <a:ext cx="5524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Η πρόκληση έγκειται στην εύρεση της χρυσής τομής: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381000" y="2940546"/>
            <a:ext cx="5524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Οι παραδοσιακές μέθοδοι (ARIMA) αδυνατούν να χειριστούν τις μη-γραμμικές σχέσεις και τον όγκο των κατηγορικών μεταβλητών.</a:t>
            </a:r>
            <a:endParaRPr/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62725" y="428625"/>
            <a:ext cx="5295751" cy="87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514350" y="1730871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71500" y="1759446"/>
            <a:ext cx="533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Overstocking:</a:t>
            </a: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Δέσμευση κεφαλαίου, κόστος αποθήκευσης, απαξίωση.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14350" y="2283321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2311896"/>
            <a:ext cx="533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Out-of-Stock:</a:t>
            </a: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Άμεση απώλεια εσόδων, φθορά εμπιστοσύνης πελάτη.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381000" y="166687"/>
            <a:ext cx="47080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F3F0DF"/>
                </a:solidFill>
                <a:latin typeface="+mn-lt"/>
                <a:ea typeface="Merriweather"/>
                <a:cs typeface="Merriweather"/>
                <a:sym typeface="Merriweather"/>
              </a:rPr>
              <a:t>2. </a:t>
            </a:r>
            <a:r>
              <a:rPr lang="en-US" sz="2700" b="0" i="0" u="none" strike="noStrike" cap="none" dirty="0" err="1">
                <a:solidFill>
                  <a:srgbClr val="F3F0DF"/>
                </a:solidFill>
                <a:latin typeface="+mn-lt"/>
                <a:ea typeface="Merriweather"/>
                <a:cs typeface="Merriweather"/>
                <a:sym typeface="Merriweather"/>
              </a:rPr>
              <a:t>Αρχιτεκτονική</a:t>
            </a:r>
            <a:r>
              <a:rPr lang="en-US" sz="2700" b="0" i="0" u="none" strike="noStrike" cap="none" dirty="0">
                <a:solidFill>
                  <a:srgbClr val="F3F0DF"/>
                </a:solidFill>
                <a:latin typeface="+mn-lt"/>
                <a:ea typeface="Merriweather"/>
                <a:cs typeface="Merriweather"/>
                <a:sym typeface="Merriweather"/>
              </a:rPr>
              <a:t> ML Pipeline</a:t>
            </a:r>
            <a:endParaRPr dirty="0">
              <a:latin typeface="+mn-lt"/>
            </a:endParaRPr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39900" y="37338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66084" y="37338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92267" y="37338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18451" y="37338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33933" y="3209925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414783" y="3857625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Data Ingestion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df.info() check</a:t>
            </a:r>
            <a:endParaRPr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531542" y="32099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2740967" y="3857625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EDA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ADF &amp; ACF/PACF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57726" y="32099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067151" y="3857625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Feature Eng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Lags &amp; Sin/Cos</a:t>
            </a:r>
            <a:endParaRPr/>
          </a:p>
        </p:txBody>
      </p:sp>
      <p:pic>
        <p:nvPicPr>
          <p:cNvPr id="123" name="Google Shape;123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21997" y="3209925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7393334" y="3857625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Modeling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CatBoost &amp; LSTM</a:t>
            </a:r>
            <a:endParaRPr/>
          </a:p>
        </p:txBody>
      </p:sp>
      <p:pic>
        <p:nvPicPr>
          <p:cNvPr id="125" name="Google Shape;125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481518" y="3209925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9719518" y="3857625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XAI &amp; Decision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SHAP &amp; Simulator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381000" y="166687"/>
            <a:ext cx="5540692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3. Data Profiling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2379F0-60B5-CBB2-2427-F2FB182C9CDE}"/>
              </a:ext>
            </a:extLst>
          </p:cNvPr>
          <p:cNvSpPr/>
          <p:nvPr/>
        </p:nvSpPr>
        <p:spPr>
          <a:xfrm>
            <a:off x="0" y="761998"/>
            <a:ext cx="7045377" cy="360122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bg1"/>
                </a:solidFill>
              </a:rPr>
              <a:t># Diagnostic Check</a:t>
            </a:r>
          </a:p>
          <a:p>
            <a:r>
              <a:rPr lang="en-US" dirty="0">
                <a:solidFill>
                  <a:schemeClr val="bg1"/>
                </a:solidFill>
              </a:rPr>
              <a:t>Print (</a:t>
            </a:r>
            <a:r>
              <a:rPr lang="en-US" dirty="0" err="1">
                <a:solidFill>
                  <a:schemeClr val="bg1"/>
                </a:solidFill>
              </a:rPr>
              <a:t>df.describe</a:t>
            </a:r>
            <a:r>
              <a:rPr lang="en-US" dirty="0">
                <a:solidFill>
                  <a:schemeClr val="bg1"/>
                </a:solidFill>
              </a:rPr>
              <a:t>())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# Check For Nulls</a:t>
            </a:r>
          </a:p>
          <a:p>
            <a:r>
              <a:rPr lang="en-US" dirty="0"/>
              <a:t>def </a:t>
            </a:r>
            <a:r>
              <a:rPr lang="en-US" dirty="0" err="1"/>
              <a:t>data_profiling</a:t>
            </a:r>
            <a:r>
              <a:rPr lang="en-US" dirty="0"/>
              <a:t>(</a:t>
            </a:r>
            <a:r>
              <a:rPr lang="en-US" dirty="0" err="1"/>
              <a:t>dataframe</a:t>
            </a:r>
            <a:r>
              <a:rPr lang="en-US" dirty="0"/>
              <a:t>): </a:t>
            </a:r>
          </a:p>
          <a:p>
            <a:r>
              <a:rPr lang="en-US" dirty="0"/>
              <a:t>	profile = </a:t>
            </a:r>
            <a:r>
              <a:rPr lang="en-US" dirty="0" err="1"/>
              <a:t>pd.DataFrame</a:t>
            </a:r>
            <a:r>
              <a:rPr lang="en-US" dirty="0"/>
              <a:t>({</a:t>
            </a:r>
          </a:p>
          <a:p>
            <a:r>
              <a:rPr lang="en-US" dirty="0"/>
              <a:t>		 'Data Type’: </a:t>
            </a:r>
            <a:r>
              <a:rPr lang="en-US" dirty="0" err="1"/>
              <a:t>dataframe.dtypes</a:t>
            </a:r>
            <a:r>
              <a:rPr lang="en-US" dirty="0"/>
              <a:t>,</a:t>
            </a:r>
          </a:p>
          <a:p>
            <a:r>
              <a:rPr lang="en-US" dirty="0"/>
              <a:t>		'Missing Values': </a:t>
            </a:r>
            <a:r>
              <a:rPr lang="en-US" dirty="0" err="1"/>
              <a:t>dataframe.isnull</a:t>
            </a:r>
            <a:r>
              <a:rPr lang="en-US" dirty="0"/>
              <a:t>().sum(),</a:t>
            </a:r>
          </a:p>
          <a:p>
            <a:r>
              <a:rPr lang="en-US" dirty="0"/>
              <a:t>		'Missing %': (</a:t>
            </a:r>
            <a:r>
              <a:rPr lang="en-US" dirty="0" err="1"/>
              <a:t>dataframe.isnull</a:t>
            </a:r>
            <a:r>
              <a:rPr lang="en-US" dirty="0"/>
              <a:t>().sum() / 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dataframe</a:t>
            </a:r>
            <a:r>
              <a:rPr lang="en-US" dirty="0"/>
              <a:t>)) * 100,</a:t>
            </a:r>
          </a:p>
          <a:p>
            <a:r>
              <a:rPr lang="en-US" dirty="0"/>
              <a:t>		'Unique Values': </a:t>
            </a:r>
            <a:r>
              <a:rPr lang="en-US" dirty="0" err="1"/>
              <a:t>dataframe.nunique</a:t>
            </a:r>
            <a:r>
              <a:rPr lang="en-US" dirty="0"/>
              <a:t>()</a:t>
            </a:r>
          </a:p>
          <a:p>
            <a:r>
              <a:rPr lang="en-US" dirty="0"/>
              <a:t>	})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3C5DB1-7DA1-0BC0-5C34-DEC5DBA605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4363222"/>
            <a:ext cx="11093798" cy="24947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6FAFB0-638C-891B-76EA-2299178B2E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5377" y="761998"/>
            <a:ext cx="3974837" cy="36012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381000" y="166687"/>
            <a:ext cx="604978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F3F0DF"/>
                </a:solidFill>
                <a:latin typeface="+mn-lt"/>
                <a:ea typeface="Merriweather"/>
                <a:cs typeface="Merriweather"/>
                <a:sym typeface="Merriweather"/>
              </a:rPr>
              <a:t>4. </a:t>
            </a:r>
            <a:r>
              <a:rPr lang="en-US" sz="2700" b="0" i="0" u="none" strike="noStrike" cap="none" dirty="0" err="1">
                <a:solidFill>
                  <a:srgbClr val="F3F0DF"/>
                </a:solidFill>
                <a:latin typeface="+mn-lt"/>
                <a:ea typeface="Merriweather"/>
                <a:cs typeface="Merriweather"/>
                <a:sym typeface="Merriweather"/>
              </a:rPr>
              <a:t>Έλεγχος</a:t>
            </a:r>
            <a:r>
              <a:rPr lang="en-US" sz="2700" b="0" i="0" u="none" strike="noStrike" cap="none" dirty="0">
                <a:solidFill>
                  <a:srgbClr val="F3F0DF"/>
                </a:solidFill>
                <a:latin typeface="+mn-lt"/>
                <a:ea typeface="Merriweather"/>
                <a:cs typeface="Merriweather"/>
                <a:sym typeface="Merriweather"/>
              </a:rPr>
              <a:t> Στασιμότητας</a:t>
            </a:r>
            <a:endParaRPr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28C32A-21E2-CC9F-8896-7E4336F1428B}"/>
              </a:ext>
            </a:extLst>
          </p:cNvPr>
          <p:cNvSpPr txBox="1"/>
          <p:nvPr/>
        </p:nvSpPr>
        <p:spPr>
          <a:xfrm>
            <a:off x="302355" y="1100554"/>
            <a:ext cx="6207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dirty="0">
                <a:solidFill>
                  <a:srgbClr val="005088"/>
                </a:solidFill>
                <a:effectLst/>
                <a:latin typeface="Merriweather" panose="00000500000000000000" pitchFamily="2" charset="0"/>
              </a:rPr>
              <a:t>Augmented Dickey-Fuller Test</a:t>
            </a:r>
            <a:endParaRPr 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8A2B0E-CD47-B317-D501-BB740B262EF2}"/>
              </a:ext>
            </a:extLst>
          </p:cNvPr>
          <p:cNvSpPr txBox="1"/>
          <p:nvPr/>
        </p:nvSpPr>
        <p:spPr>
          <a:xfrm>
            <a:off x="302355" y="1464199"/>
            <a:ext cx="62070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400" b="0" i="0" u="none" strike="noStrike" dirty="0">
                <a:solidFill>
                  <a:srgbClr val="121212"/>
                </a:solidFill>
                <a:effectLst/>
                <a:latin typeface="DM Sans" pitchFamily="2" charset="0"/>
              </a:rPr>
              <a:t>Ελέγχουμε αν η χρονοσειρά είναι στάσιμη (Stationary) για να διασφαλίσουμε ότι οι στατιστικές ιδιότητες δεν αλλάζουν ανεξέλεγκτα.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FFA56E-FCB2-F8D2-774F-3629165F8B37}"/>
              </a:ext>
            </a:extLst>
          </p:cNvPr>
          <p:cNvSpPr txBox="1"/>
          <p:nvPr/>
        </p:nvSpPr>
        <p:spPr>
          <a:xfrm>
            <a:off x="302355" y="1981675"/>
            <a:ext cx="173193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400" b="1" i="0" u="none" strike="noStrike" dirty="0">
                <a:solidFill>
                  <a:srgbClr val="121212"/>
                </a:solidFill>
                <a:effectLst/>
                <a:latin typeface="DM Sans" pitchFamily="2" charset="0"/>
              </a:rPr>
              <a:t>p-value:</a:t>
            </a:r>
            <a:r>
              <a:rPr lang="en-US" sz="1400" b="0" i="0" u="none" strike="noStrike" dirty="0">
                <a:solidFill>
                  <a:srgbClr val="121212"/>
                </a:solidFill>
                <a:effectLst/>
                <a:latin typeface="DM Sans" pitchFamily="2" charset="0"/>
              </a:rPr>
              <a:t> 0.0000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BF71C7-335C-FF36-9CDB-4502B2CAD59D}"/>
              </a:ext>
            </a:extLst>
          </p:cNvPr>
          <p:cNvSpPr txBox="1"/>
          <p:nvPr/>
        </p:nvSpPr>
        <p:spPr>
          <a:xfrm>
            <a:off x="302355" y="2284078"/>
            <a:ext cx="62070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400" b="1" i="0" u="none" strike="noStrike" dirty="0">
                <a:solidFill>
                  <a:srgbClr val="121212"/>
                </a:solidFill>
                <a:effectLst/>
                <a:latin typeface="DM Sans" pitchFamily="2" charset="0"/>
              </a:rPr>
              <a:t>Συμπέρασμα:</a:t>
            </a:r>
            <a:r>
              <a:rPr lang="el-GR" sz="1400" b="0" i="0" u="none" strike="noStrike" dirty="0">
                <a:solidFill>
                  <a:srgbClr val="121212"/>
                </a:solidFill>
                <a:effectLst/>
                <a:latin typeface="DM Sans" pitchFamily="2" charset="0"/>
              </a:rPr>
              <a:t> Η χρονοσειρά είναι στάσιμη.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A12BFB9-3E63-80A8-CEE3-E36BDF933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5327" y="2651386"/>
            <a:ext cx="9095673" cy="40994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381000" y="166687"/>
            <a:ext cx="725966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5. </a:t>
            </a:r>
            <a:r>
              <a:rPr lang="en-US" sz="2700" b="0" i="0" u="none" strike="noStrike" cap="none" dirty="0" err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Ανάλυση</a:t>
            </a:r>
            <a:r>
              <a:rPr lang="en-US" sz="2700" b="0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2700" b="0" i="0" u="none" strike="noStrike" cap="none" dirty="0" err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Μνήμης</a:t>
            </a:r>
            <a:r>
              <a:rPr lang="en-US" sz="2700" b="0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&amp; </a:t>
            </a:r>
            <a:r>
              <a:rPr lang="el-GR" sz="2700" b="0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Επιχειρηματική Λογική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26D925-3985-9AC8-B489-09BC5B14A9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829" y="3107234"/>
            <a:ext cx="10681341" cy="36747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4D355C-3B2A-0475-2809-9C650C3C1F3F}"/>
              </a:ext>
            </a:extLst>
          </p:cNvPr>
          <p:cNvSpPr txBox="1"/>
          <p:nvPr/>
        </p:nvSpPr>
        <p:spPr>
          <a:xfrm>
            <a:off x="381000" y="821412"/>
            <a:ext cx="52835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/>
              <a:t>Το διάγραμμα Αυτοσυσχέτισης (ACF) μας οδήγησε σε μια κρίσιμη απόφαση μοντελοποίησης, αναδεικνύοντας τη διαφορά μεταξύ στατιστικής και πραγματικής αγοράς</a:t>
            </a:r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469EF9-7BAC-B002-FA31-C30FF934DE9A}"/>
              </a:ext>
            </a:extLst>
          </p:cNvPr>
          <p:cNvSpPr txBox="1"/>
          <p:nvPr/>
        </p:nvSpPr>
        <p:spPr>
          <a:xfrm>
            <a:off x="5905499" y="963185"/>
            <a:ext cx="609788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b="1" dirty="0"/>
              <a:t>Το Μαθηματικό Σήμα:</a:t>
            </a:r>
            <a:r>
              <a:rPr lang="el-GR" dirty="0"/>
              <a:t> Ο αλγόριθμος εντόπισε στατιστική συσχέτιση στις 10 ημέρες (κορυφή στο Lag 10).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b="1" dirty="0"/>
              <a:t>Η Επιχειρηματική Πραγματικότητα:</a:t>
            </a:r>
            <a:r>
              <a:rPr lang="el-GR" dirty="0"/>
              <a:t> Το λιανεμπόριο δεν έχει κύκλους 10 ημερών. Λειτουργεί αυστηρά σε κύκλους 7 ημερών (εβδομάδες).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b="1" dirty="0"/>
              <a:t>Feature Engineering:</a:t>
            </a:r>
            <a:r>
              <a:rPr lang="el-GR" dirty="0"/>
              <a:t> Αποφασίσαμε στρατηγικά να προσπεράσουμε το στατιστικό εύρημα του Lag 10 και να επιβάλουμε χαρακτηριστικά 7 ημερών (Lag_7, EWMA_7).</a:t>
            </a:r>
            <a:endParaRPr lang="en-US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381000" y="166687"/>
            <a:ext cx="8824993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6. Feature Engineering: Η </a:t>
            </a:r>
            <a:r>
              <a:rPr lang="en-US" sz="2700" b="0" i="0" u="none" strike="noStrike" cap="none" dirty="0" err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Δύν</a:t>
            </a:r>
            <a:r>
              <a:rPr lang="en-US" sz="2700" b="0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αμη του "Σήματος"</a:t>
            </a:r>
            <a:endParaRPr dirty="0"/>
          </a:p>
        </p:txBody>
      </p:sp>
      <p:sp>
        <p:nvSpPr>
          <p:cNvPr id="177" name="Google Shape;177;p19"/>
          <p:cNvSpPr txBox="1"/>
          <p:nvPr/>
        </p:nvSpPr>
        <p:spPr>
          <a:xfrm>
            <a:off x="381000" y="1321296"/>
            <a:ext cx="58007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Μετασχηματισμοί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381000" y="1711821"/>
            <a:ext cx="5524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Δημιουργήσ</a:t>
            </a:r>
            <a:r>
              <a:rPr lang="en-US" sz="135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αμε νέες μεταβλητές για να βοηθήσουμε το μοντέλο να "δει" το χρόνο:</a:t>
            </a:r>
            <a:endParaRPr dirty="0"/>
          </a:p>
        </p:txBody>
      </p:sp>
      <p:sp>
        <p:nvSpPr>
          <p:cNvPr id="179" name="Google Shape;179;p19"/>
          <p:cNvSpPr txBox="1"/>
          <p:nvPr/>
        </p:nvSpPr>
        <p:spPr>
          <a:xfrm>
            <a:off x="514350" y="2292846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571500" y="2321421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Grouped Lags:</a:t>
            </a: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Υστερήσεις ανά κατηγορία και περιοχή.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514350" y="2616696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571500" y="2645271"/>
            <a:ext cx="533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EWMA:</a:t>
            </a: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Εκθετικός κυλιόμενος μέσος όρος για την αποτύπωση του πρόσφατου momentum.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514350" y="3169146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571500" y="3197721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Rolling Std:</a:t>
            </a: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Μετρική μεταβλητότητας.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2D9577-CBF5-8591-873A-23B6A0DDD1AD}"/>
              </a:ext>
            </a:extLst>
          </p:cNvPr>
          <p:cNvSpPr txBox="1"/>
          <p:nvPr/>
        </p:nvSpPr>
        <p:spPr>
          <a:xfrm>
            <a:off x="166202" y="3649178"/>
            <a:ext cx="823334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lag_periods</a:t>
            </a:r>
            <a:r>
              <a:rPr lang="en-US" dirty="0"/>
              <a:t> = [1, 2, 7, 14]</a:t>
            </a:r>
          </a:p>
          <a:p>
            <a:r>
              <a:rPr lang="en-US" dirty="0"/>
              <a:t>      for lag in </a:t>
            </a:r>
            <a:r>
              <a:rPr lang="en-US" dirty="0" err="1"/>
              <a:t>lag_periods</a:t>
            </a:r>
            <a:r>
              <a:rPr lang="en-US" dirty="0"/>
              <a:t>: </a:t>
            </a:r>
          </a:p>
          <a:p>
            <a:r>
              <a:rPr lang="en-US" dirty="0"/>
              <a:t>	</a:t>
            </a:r>
            <a:r>
              <a:rPr lang="en-US" dirty="0" err="1"/>
              <a:t>df_features</a:t>
            </a:r>
            <a:r>
              <a:rPr lang="en-US" dirty="0"/>
              <a:t>[</a:t>
            </a:r>
            <a:r>
              <a:rPr lang="en-US" dirty="0" err="1"/>
              <a:t>f'Lag</a:t>
            </a:r>
            <a:r>
              <a:rPr lang="en-US" dirty="0"/>
              <a:t>_{lag}'] = </a:t>
            </a:r>
            <a:r>
              <a:rPr lang="en-US" dirty="0" err="1"/>
              <a:t>df_features.groupby</a:t>
            </a:r>
            <a:r>
              <a:rPr lang="en-US" dirty="0"/>
              <a:t>(['Category', 'Region'])['Units Sold'].shift(lag)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df_features</a:t>
            </a:r>
            <a:r>
              <a:rPr lang="en-US" dirty="0"/>
              <a:t>['EWMA_7'] = </a:t>
            </a:r>
            <a:r>
              <a:rPr lang="en-US" dirty="0" err="1"/>
              <a:t>df_features.groupby</a:t>
            </a:r>
            <a:r>
              <a:rPr lang="en-US" dirty="0"/>
              <a:t>(['Category', 'Region'])['Units Sold'].transform(</a:t>
            </a:r>
          </a:p>
          <a:p>
            <a:pPr lvl="2"/>
            <a:r>
              <a:rPr lang="en-US" dirty="0"/>
              <a:t>	lambda x: </a:t>
            </a:r>
            <a:r>
              <a:rPr lang="en-US" dirty="0" err="1"/>
              <a:t>x.shift</a:t>
            </a:r>
            <a:r>
              <a:rPr lang="en-US" dirty="0"/>
              <a:t>(1).</a:t>
            </a:r>
            <a:r>
              <a:rPr lang="en-US" dirty="0" err="1"/>
              <a:t>ewm</a:t>
            </a:r>
            <a:r>
              <a:rPr lang="en-US" dirty="0"/>
              <a:t>(span=7, adjust=False).mean()</a:t>
            </a:r>
          </a:p>
          <a:p>
            <a:r>
              <a:rPr lang="en-US" dirty="0"/>
              <a:t>       )</a:t>
            </a:r>
          </a:p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F90FBC-6B54-48A0-AB82-66C6AFF615DE}"/>
              </a:ext>
            </a:extLst>
          </p:cNvPr>
          <p:cNvSpPr/>
          <p:nvPr/>
        </p:nvSpPr>
        <p:spPr>
          <a:xfrm>
            <a:off x="0" y="3521572"/>
            <a:ext cx="8399546" cy="2507270"/>
          </a:xfrm>
          <a:prstGeom prst="rect">
            <a:avLst/>
          </a:prstGeom>
          <a:gradFill>
            <a:gsLst>
              <a:gs pos="0">
                <a:schemeClr val="accent1">
                  <a:alpha val="0"/>
                  <a:lumMod val="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797671"/>
            <a:ext cx="10668000" cy="84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381000" y="166687"/>
            <a:ext cx="6608736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7. </a:t>
            </a:r>
            <a:r>
              <a:rPr lang="en-US" sz="2700" b="0" i="0" u="none" strike="noStrike" cap="none" dirty="0" err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Κυκλικός</a:t>
            </a:r>
            <a:r>
              <a:rPr lang="en-US" sz="2700" b="0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2700" b="0" i="0" u="none" strike="noStrike" cap="none" dirty="0" err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Μετ</a:t>
            </a:r>
            <a:r>
              <a:rPr lang="en-US" sz="2700" b="0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ασχηματισμός Χρόνου</a:t>
            </a:r>
            <a:endParaRPr dirty="0"/>
          </a:p>
        </p:txBody>
      </p:sp>
      <p:sp>
        <p:nvSpPr>
          <p:cNvPr id="193" name="Google Shape;193;p20"/>
          <p:cNvSpPr txBox="1"/>
          <p:nvPr/>
        </p:nvSpPr>
        <p:spPr>
          <a:xfrm>
            <a:off x="190500" y="1797546"/>
            <a:ext cx="118110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Το Παράδοξο του Χρόνου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381000" y="2188071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Για μια μηχανή, ο Δεκέμβριος (12) απέχει πολύ από τον Ιανουάριο (1). Στην πραγματικότητα, απέχουν 1 ημέρα.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381000" y="4026396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Μετατρέπουμε τον χρόνο σε συντεταγμένες ημιτόνου/συνημιτόνου (Sine/Cosine Encoding).</a:t>
            </a:r>
            <a:endParaRPr/>
          </a:p>
        </p:txBody>
      </p:sp>
      <p:pic>
        <p:nvPicPr>
          <p:cNvPr id="196" name="Google Shape;19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72955" y="3057822"/>
            <a:ext cx="2045940" cy="39707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269096F-AAA3-16ED-9FD2-2791599749CC}"/>
              </a:ext>
            </a:extLst>
          </p:cNvPr>
          <p:cNvSpPr txBox="1"/>
          <p:nvPr/>
        </p:nvSpPr>
        <p:spPr>
          <a:xfrm>
            <a:off x="3144961" y="4695170"/>
            <a:ext cx="6583854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df_features</a:t>
            </a:r>
            <a:r>
              <a:rPr lang="en-US" dirty="0"/>
              <a:t>['</a:t>
            </a:r>
            <a:r>
              <a:rPr lang="en-US" dirty="0" err="1"/>
              <a:t>Month_Sin</a:t>
            </a:r>
            <a:r>
              <a:rPr lang="en-US" dirty="0"/>
              <a:t>'] = </a:t>
            </a:r>
            <a:r>
              <a:rPr lang="en-US" dirty="0" err="1"/>
              <a:t>np.sin</a:t>
            </a:r>
            <a:r>
              <a:rPr lang="en-US" dirty="0"/>
              <a:t>(2 * </a:t>
            </a:r>
            <a:r>
              <a:rPr lang="en-US" dirty="0" err="1"/>
              <a:t>np.pi</a:t>
            </a:r>
            <a:r>
              <a:rPr lang="en-US" dirty="0"/>
              <a:t> * </a:t>
            </a:r>
            <a:r>
              <a:rPr lang="en-US" dirty="0" err="1"/>
              <a:t>df_features</a:t>
            </a:r>
            <a:r>
              <a:rPr lang="en-US" dirty="0"/>
              <a:t>['Month'] / 12)</a:t>
            </a:r>
          </a:p>
          <a:p>
            <a:r>
              <a:rPr lang="en-US" dirty="0" err="1"/>
              <a:t>df_features</a:t>
            </a:r>
            <a:r>
              <a:rPr lang="en-US" dirty="0"/>
              <a:t>['</a:t>
            </a:r>
            <a:r>
              <a:rPr lang="en-US" dirty="0" err="1"/>
              <a:t>Month_Cos</a:t>
            </a:r>
            <a:r>
              <a:rPr lang="en-US" dirty="0"/>
              <a:t>'] = </a:t>
            </a:r>
            <a:r>
              <a:rPr lang="en-US" dirty="0" err="1"/>
              <a:t>np.cos</a:t>
            </a:r>
            <a:r>
              <a:rPr lang="en-US" dirty="0"/>
              <a:t>(2 * </a:t>
            </a:r>
            <a:r>
              <a:rPr lang="en-US" dirty="0" err="1"/>
              <a:t>np.pi</a:t>
            </a:r>
            <a:r>
              <a:rPr lang="en-US" dirty="0"/>
              <a:t> * </a:t>
            </a:r>
            <a:r>
              <a:rPr lang="en-US" dirty="0" err="1"/>
              <a:t>df_features</a:t>
            </a:r>
            <a:r>
              <a:rPr lang="en-US" dirty="0"/>
              <a:t>['Month'] / 12)</a:t>
            </a:r>
          </a:p>
          <a:p>
            <a:endParaRPr lang="en-US" dirty="0"/>
          </a:p>
          <a:p>
            <a:r>
              <a:rPr lang="en-US" dirty="0" err="1"/>
              <a:t>df_features</a:t>
            </a:r>
            <a:r>
              <a:rPr lang="en-US" dirty="0"/>
              <a:t>['</a:t>
            </a:r>
            <a:r>
              <a:rPr lang="en-US" dirty="0" err="1"/>
              <a:t>DayOfWeek_Sin</a:t>
            </a:r>
            <a:r>
              <a:rPr lang="en-US" dirty="0"/>
              <a:t>'] = </a:t>
            </a:r>
            <a:r>
              <a:rPr lang="en-US" dirty="0" err="1"/>
              <a:t>np.sin</a:t>
            </a:r>
            <a:r>
              <a:rPr lang="en-US" dirty="0"/>
              <a:t>(2 * </a:t>
            </a:r>
            <a:r>
              <a:rPr lang="en-US" dirty="0" err="1"/>
              <a:t>np.pi</a:t>
            </a:r>
            <a:r>
              <a:rPr lang="en-US" dirty="0"/>
              <a:t> * </a:t>
            </a:r>
            <a:r>
              <a:rPr lang="en-US" dirty="0" err="1"/>
              <a:t>df_features</a:t>
            </a:r>
            <a:r>
              <a:rPr lang="en-US" dirty="0"/>
              <a:t>['</a:t>
            </a:r>
            <a:r>
              <a:rPr lang="en-US" dirty="0" err="1"/>
              <a:t>DayOfWeek</a:t>
            </a:r>
            <a:r>
              <a:rPr lang="en-US" dirty="0"/>
              <a:t>'] / 7)</a:t>
            </a:r>
          </a:p>
          <a:p>
            <a:r>
              <a:rPr lang="en-US" dirty="0" err="1"/>
              <a:t>df_features</a:t>
            </a:r>
            <a:r>
              <a:rPr lang="en-US" dirty="0"/>
              <a:t>['</a:t>
            </a:r>
            <a:r>
              <a:rPr lang="en-US" dirty="0" err="1"/>
              <a:t>DayOfWeek_Cos</a:t>
            </a:r>
            <a:r>
              <a:rPr lang="en-US" dirty="0"/>
              <a:t>'] = </a:t>
            </a:r>
            <a:r>
              <a:rPr lang="en-US" dirty="0" err="1"/>
              <a:t>np.cos</a:t>
            </a:r>
            <a:r>
              <a:rPr lang="en-US" dirty="0"/>
              <a:t>(2 * </a:t>
            </a:r>
            <a:r>
              <a:rPr lang="en-US" dirty="0" err="1"/>
              <a:t>np.pi</a:t>
            </a:r>
            <a:r>
              <a:rPr lang="en-US" dirty="0"/>
              <a:t> * </a:t>
            </a:r>
            <a:r>
              <a:rPr lang="en-US" dirty="0" err="1"/>
              <a:t>df_features</a:t>
            </a:r>
            <a:r>
              <a:rPr lang="en-US" dirty="0"/>
              <a:t>['</a:t>
            </a:r>
            <a:r>
              <a:rPr lang="en-US" dirty="0" err="1"/>
              <a:t>DayOfWeek</a:t>
            </a:r>
            <a:r>
              <a:rPr lang="en-US" dirty="0"/>
              <a:t>'] / 7)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A3D6D58-5DC3-C3FD-337F-E9F35BF6C473}"/>
              </a:ext>
            </a:extLst>
          </p:cNvPr>
          <p:cNvSpPr/>
          <p:nvPr/>
        </p:nvSpPr>
        <p:spPr>
          <a:xfrm>
            <a:off x="1332854" y="4140696"/>
            <a:ext cx="9004515" cy="2696705"/>
          </a:xfrm>
          <a:prstGeom prst="ellipse">
            <a:avLst/>
          </a:prstGeom>
          <a:gradFill>
            <a:gsLst>
              <a:gs pos="46000">
                <a:schemeClr val="accent1">
                  <a:alpha val="0"/>
                  <a:lumMod val="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381000" y="166687"/>
            <a:ext cx="554631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2700" b="0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8. Η Τελική Μήτρα Χαρακτηριστικών</a:t>
            </a:r>
            <a:endParaRPr lang="el-GR" dirty="0"/>
          </a:p>
        </p:txBody>
      </p:sp>
      <p:sp>
        <p:nvSpPr>
          <p:cNvPr id="205" name="Google Shape;205;p21"/>
          <p:cNvSpPr txBox="1"/>
          <p:nvPr/>
        </p:nvSpPr>
        <p:spPr>
          <a:xfrm>
            <a:off x="366147" y="5967171"/>
            <a:ext cx="1145970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 b="0" i="1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Το dataset έχει πλέον μεταμορφωθεί σε μια μήτρα 28 ισχυρών μεταβλητών, απολύτως έτοιμη για εκπαίδευση.</a:t>
            </a:r>
            <a:endParaRPr lang="el-GR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056B84-30A6-467E-CD35-2766EC6BF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2605686"/>
            <a:ext cx="12192000" cy="15423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381000" y="166687"/>
            <a:ext cx="750763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2700" b="0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9. Στρατηγική Εκπαίδευσης &amp; Data Leakage</a:t>
            </a:r>
            <a:endParaRPr lang="el-GR" dirty="0"/>
          </a:p>
        </p:txBody>
      </p:sp>
      <p:sp>
        <p:nvSpPr>
          <p:cNvPr id="215" name="Google Shape;215;p22"/>
          <p:cNvSpPr txBox="1"/>
          <p:nvPr/>
        </p:nvSpPr>
        <p:spPr>
          <a:xfrm>
            <a:off x="381000" y="1321296"/>
            <a:ext cx="58007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Αποφυγή της "Πλάνης"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381000" y="1711821"/>
            <a:ext cx="5524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Στις χρονοσειρές απαγορεύεται ο τυχαίος διαχωρισμός (Random Split).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514350" y="2064246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571500" y="2092821"/>
            <a:ext cx="533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Data Leakage:</a:t>
            </a: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Όταν το μοντέλο μαθαίνει από το μέλλον για να προβλέψει το παρελθόν.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514350" y="2616696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571500" y="2645271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Λύση:</a:t>
            </a: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Time-Based Split (Cut-off date: 01-10-2023).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D17EC9-31D1-1852-8B29-8E6B1C34A132}"/>
              </a:ext>
            </a:extLst>
          </p:cNvPr>
          <p:cNvSpPr txBox="1"/>
          <p:nvPr/>
        </p:nvSpPr>
        <p:spPr>
          <a:xfrm>
            <a:off x="5417955" y="3429000"/>
            <a:ext cx="6550191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split_date</a:t>
            </a:r>
            <a:r>
              <a:rPr lang="en-US" sz="2000" dirty="0"/>
              <a:t> = '2023-10-01'</a:t>
            </a:r>
          </a:p>
          <a:p>
            <a:br>
              <a:rPr lang="en-US" sz="2000" dirty="0"/>
            </a:br>
            <a:r>
              <a:rPr lang="en-US" sz="2000" dirty="0" err="1"/>
              <a:t>train_data</a:t>
            </a:r>
            <a:r>
              <a:rPr lang="en-US" sz="2000" dirty="0"/>
              <a:t> = </a:t>
            </a:r>
            <a:r>
              <a:rPr lang="en-US" sz="2000" dirty="0" err="1"/>
              <a:t>df_features</a:t>
            </a:r>
            <a:r>
              <a:rPr lang="en-US" sz="2000" dirty="0"/>
              <a:t>[</a:t>
            </a:r>
            <a:r>
              <a:rPr lang="en-US" sz="2000" dirty="0" err="1"/>
              <a:t>df_features</a:t>
            </a:r>
            <a:r>
              <a:rPr lang="en-US" sz="2000" dirty="0"/>
              <a:t>['Date'] &lt; </a:t>
            </a:r>
            <a:r>
              <a:rPr lang="en-US" sz="2000" dirty="0" err="1"/>
              <a:t>split_date</a:t>
            </a:r>
            <a:r>
              <a:rPr lang="en-US" sz="2000" dirty="0"/>
              <a:t>]</a:t>
            </a:r>
          </a:p>
          <a:p>
            <a:r>
              <a:rPr lang="en-US" sz="2000" dirty="0" err="1"/>
              <a:t>test_data</a:t>
            </a:r>
            <a:r>
              <a:rPr lang="en-US" sz="2000" dirty="0"/>
              <a:t> = </a:t>
            </a:r>
            <a:r>
              <a:rPr lang="en-US" sz="2000" dirty="0" err="1"/>
              <a:t>df_features</a:t>
            </a:r>
            <a:r>
              <a:rPr lang="en-US" sz="2000" dirty="0"/>
              <a:t>[</a:t>
            </a:r>
            <a:r>
              <a:rPr lang="en-US" sz="2000" dirty="0" err="1"/>
              <a:t>df_features</a:t>
            </a:r>
            <a:r>
              <a:rPr lang="en-US" sz="2000" dirty="0"/>
              <a:t>['Date'] &gt;= </a:t>
            </a:r>
            <a:r>
              <a:rPr lang="en-US" sz="2000" dirty="0" err="1"/>
              <a:t>split_date</a:t>
            </a:r>
            <a:r>
              <a:rPr lang="en-US" sz="2000" dirty="0"/>
              <a:t>]</a:t>
            </a:r>
          </a:p>
          <a:p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057155C-F9FB-75D6-D5BB-2D39FCD0DBAB}"/>
              </a:ext>
            </a:extLst>
          </p:cNvPr>
          <p:cNvSpPr/>
          <p:nvPr/>
        </p:nvSpPr>
        <p:spPr>
          <a:xfrm>
            <a:off x="4211567" y="2578596"/>
            <a:ext cx="7756579" cy="3986389"/>
          </a:xfrm>
          <a:prstGeom prst="ellipse">
            <a:avLst/>
          </a:prstGeom>
          <a:gradFill>
            <a:gsLst>
              <a:gs pos="32000">
                <a:schemeClr val="accent1">
                  <a:alpha val="0"/>
                  <a:lumMod val="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381000" y="166687"/>
            <a:ext cx="946042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Deep Learning: </a:t>
            </a:r>
            <a:r>
              <a:rPr lang="el-GR" sz="2700" b="0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Προετοιμασία </a:t>
            </a:r>
            <a:r>
              <a:rPr lang="en-US" sz="2700" b="0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LSTM (Sliding Windows)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306CEE-27E4-7E26-000B-9309EECC4687}"/>
              </a:ext>
            </a:extLst>
          </p:cNvPr>
          <p:cNvSpPr txBox="1"/>
          <p:nvPr/>
        </p:nvSpPr>
        <p:spPr>
          <a:xfrm>
            <a:off x="552275" y="3035107"/>
            <a:ext cx="6736139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# 1. Κανονικοποίηση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Min-Max Scaling)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scaler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MinMaxScaler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df_lstm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lstm_cols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scaler.fit_transform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df_lstm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lstm_cols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2. 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Διαστάσεις 3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 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Εισόδου (Μετά το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Sliding Window)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Μορφή: (Δείγματα, Ημέρες Μνήμης, Μεταβλητές)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print(f"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Διαστάσεις 3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 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Εισόδου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Train): 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X_train_lstm.shape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}")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0DF6FB-EBD0-8CDA-154F-5F8831AB5EFA}"/>
              </a:ext>
            </a:extLst>
          </p:cNvPr>
          <p:cNvSpPr txBox="1"/>
          <p:nvPr/>
        </p:nvSpPr>
        <p:spPr>
          <a:xfrm>
            <a:off x="5316644" y="966787"/>
            <a:ext cx="673613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b="1" dirty="0"/>
              <a:t>Απαίτηση Αρχιτεκτονικής:</a:t>
            </a:r>
            <a:r>
              <a:rPr lang="el-GR" dirty="0"/>
              <a:t> Τα δίκτυα Long Short-Term Memory (LSTM) απαιτούν ριζικά διαφορετική δομή δεδομένων σε σχέση με τα παραδοσιακά μοντέλα.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b="1" dirty="0"/>
              <a:t>Κανονικοποίηση (Scaling):</a:t>
            </a:r>
            <a:r>
              <a:rPr lang="el-GR" dirty="0"/>
              <a:t> Εφαρμογή MinMaxScaler σε όλες τις μεταβλητές, καθώς τα νευρωνικά δίκτυα είναι εξαιρετικά ευαίσθητα στις διαφορές κλίμακας (π.χ. Τιμή σε € vs. Κυκλικός Μήνας -1 έως 1).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b="1" dirty="0"/>
              <a:t>Τρισδιάστατοι Τανυστές (3</a:t>
            </a:r>
            <a:r>
              <a:rPr lang="en-US" b="1" dirty="0"/>
              <a:t>D Tensors):</a:t>
            </a:r>
            <a:r>
              <a:rPr lang="en-US" dirty="0"/>
              <a:t> </a:t>
            </a:r>
            <a:r>
              <a:rPr lang="el-GR" dirty="0"/>
              <a:t>Αναδιαμόρφωση του δισδιάστατου πίνακα σε μορφή [</a:t>
            </a:r>
            <a:r>
              <a:rPr lang="en-US" dirty="0"/>
              <a:t>Samples, Time Steps, Features] </a:t>
            </a:r>
            <a:r>
              <a:rPr lang="el-GR" dirty="0"/>
              <a:t>μέσω τεχνικής κυλιόμενου παραθύρου (</a:t>
            </a:r>
            <a:r>
              <a:rPr lang="en-US" dirty="0"/>
              <a:t>Sliding Window).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b="1" dirty="0"/>
              <a:t>Μνήμη Δικτύου:</a:t>
            </a:r>
            <a:r>
              <a:rPr lang="el-GR" dirty="0"/>
              <a:t> Το μήκος ακολουθίας (Sequence Length) ορίστηκε αυστηρά στις 7 ημέρες.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C6AF46-D61A-F58F-278E-A8ED291A36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3979" y="5103426"/>
            <a:ext cx="9728508" cy="1600438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D1D37541-216F-791B-7776-038457EBBC19}"/>
              </a:ext>
            </a:extLst>
          </p:cNvPr>
          <p:cNvSpPr/>
          <p:nvPr/>
        </p:nvSpPr>
        <p:spPr>
          <a:xfrm>
            <a:off x="-727" y="2331990"/>
            <a:ext cx="7842142" cy="3006671"/>
          </a:xfrm>
          <a:prstGeom prst="ellipse">
            <a:avLst/>
          </a:prstGeom>
          <a:gradFill flip="none" rotWithShape="1">
            <a:gsLst>
              <a:gs pos="53000">
                <a:schemeClr val="accent1">
                  <a:alpha val="0"/>
                  <a:lumMod val="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4"/>
          <p:cNvSpPr txBox="1"/>
          <p:nvPr/>
        </p:nvSpPr>
        <p:spPr>
          <a:xfrm>
            <a:off x="381000" y="166687"/>
            <a:ext cx="8065576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2700" b="0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Deep Learning: Εκπαίδευση &amp; Τοπολογία LSTM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8F619D-3ECB-FD11-C4E7-730908C59B4F}"/>
              </a:ext>
            </a:extLst>
          </p:cNvPr>
          <p:cNvSpPr txBox="1"/>
          <p:nvPr/>
        </p:nvSpPr>
        <p:spPr>
          <a:xfrm>
            <a:off x="123987" y="1069383"/>
            <a:ext cx="802812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600" b="1" dirty="0"/>
              <a:t>Τοπολογία Δικτύου:</a:t>
            </a:r>
            <a:r>
              <a:rPr lang="el-GR" sz="1600" dirty="0"/>
              <a:t> Χρήση δύο διαδοχικών επιπέδων LSTM (64 και 32 νευρώνων) για την εξαγωγή σύνθετων χρονικών μοτίβων.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600" b="1" dirty="0"/>
              <a:t>Dropout (20%):</a:t>
            </a:r>
            <a:r>
              <a:rPr lang="el-GR" sz="1600" dirty="0"/>
              <a:t> Ενσωμάτωση επιπέδων Dropout για την τυχαία απενεργοποίηση νευρώνων, αναγκάζοντας το δίκτυο να γενικεύει αντί να απομνημονεύει.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600" b="1" dirty="0"/>
              <a:t>Μηχανισμός Early Stopping:</a:t>
            </a:r>
            <a:r>
              <a:rPr lang="el-GR" sz="1600" dirty="0"/>
              <a:t> Παρακολούθηση του σφάλματος στο Validation Set και αυτόματη διακοπή της εκπαίδευσης στο βέλτιστο σημείο.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600" b="1" dirty="0"/>
              <a:t>Συνάρτηση Κόστους:</a:t>
            </a:r>
            <a:r>
              <a:rPr lang="el-GR" sz="1600" dirty="0"/>
              <a:t> Βελτιστοποίηση Adam με στόχο την ελαχιστοποίηση του Μέσου Τετραγωνικού Σφάλματος (MSE).</a:t>
            </a:r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B9E03B-6E6B-71D3-FB2B-E57B71ADACC6}"/>
              </a:ext>
            </a:extLst>
          </p:cNvPr>
          <p:cNvSpPr txBox="1"/>
          <p:nvPr/>
        </p:nvSpPr>
        <p:spPr>
          <a:xfrm>
            <a:off x="0" y="3170748"/>
            <a:ext cx="625042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model_lstm</a:t>
            </a:r>
            <a:r>
              <a:rPr lang="en-US" dirty="0"/>
              <a:t> = Sequential([</a:t>
            </a:r>
          </a:p>
          <a:p>
            <a:r>
              <a:rPr lang="en-US" dirty="0"/>
              <a:t>    LSTM(64, activation='</a:t>
            </a:r>
            <a:r>
              <a:rPr lang="en-US" dirty="0" err="1"/>
              <a:t>relu</a:t>
            </a:r>
            <a:r>
              <a:rPr lang="en-US" dirty="0"/>
              <a:t>', </a:t>
            </a:r>
            <a:r>
              <a:rPr lang="en-US" dirty="0" err="1"/>
              <a:t>input_shape</a:t>
            </a:r>
            <a:r>
              <a:rPr lang="en-US" dirty="0"/>
              <a:t>=(7, 10), </a:t>
            </a:r>
            <a:r>
              <a:rPr lang="en-US" dirty="0" err="1"/>
              <a:t>return_sequences</a:t>
            </a:r>
            <a:r>
              <a:rPr lang="en-US" dirty="0"/>
              <a:t>=True),</a:t>
            </a:r>
          </a:p>
          <a:p>
            <a:r>
              <a:rPr lang="en-US" dirty="0"/>
              <a:t>    Dropout(0.2),</a:t>
            </a:r>
          </a:p>
          <a:p>
            <a:r>
              <a:rPr lang="en-US" dirty="0"/>
              <a:t>    LSTM(32, activation='</a:t>
            </a:r>
            <a:r>
              <a:rPr lang="en-US" dirty="0" err="1"/>
              <a:t>relu</a:t>
            </a:r>
            <a:r>
              <a:rPr lang="en-US" dirty="0"/>
              <a:t>'),</a:t>
            </a:r>
          </a:p>
          <a:p>
            <a:r>
              <a:rPr lang="en-US" dirty="0"/>
              <a:t>    Dropout(0.2),</a:t>
            </a:r>
          </a:p>
          <a:p>
            <a:r>
              <a:rPr lang="en-US" dirty="0"/>
              <a:t>    Dense(1)</a:t>
            </a:r>
          </a:p>
          <a:p>
            <a:r>
              <a:rPr lang="en-US" dirty="0"/>
              <a:t>])</a:t>
            </a:r>
          </a:p>
          <a:p>
            <a:endParaRPr lang="en-US" dirty="0"/>
          </a:p>
          <a:p>
            <a:r>
              <a:rPr lang="en-US" dirty="0"/>
              <a:t># </a:t>
            </a:r>
            <a:r>
              <a:rPr lang="el-GR" dirty="0"/>
              <a:t>Πρόληψη </a:t>
            </a:r>
            <a:r>
              <a:rPr lang="en-US" dirty="0"/>
              <a:t>Overfitting</a:t>
            </a:r>
          </a:p>
          <a:p>
            <a:r>
              <a:rPr lang="en-US" dirty="0" err="1"/>
              <a:t>early_stop</a:t>
            </a:r>
            <a:r>
              <a:rPr lang="en-US" dirty="0"/>
              <a:t> = </a:t>
            </a:r>
            <a:r>
              <a:rPr lang="en-US" dirty="0" err="1"/>
              <a:t>EarlyStopping</a:t>
            </a:r>
            <a:r>
              <a:rPr lang="en-US" dirty="0"/>
              <a:t>(monitor='</a:t>
            </a:r>
            <a:r>
              <a:rPr lang="en-US" dirty="0" err="1"/>
              <a:t>val_loss</a:t>
            </a:r>
            <a:r>
              <a:rPr lang="en-US" dirty="0"/>
              <a:t>', patience=10)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271BB3F-F068-7D62-883B-73C1187D6A52}"/>
              </a:ext>
            </a:extLst>
          </p:cNvPr>
          <p:cNvSpPr/>
          <p:nvPr/>
        </p:nvSpPr>
        <p:spPr>
          <a:xfrm>
            <a:off x="-405815" y="3131486"/>
            <a:ext cx="6501815" cy="2624784"/>
          </a:xfrm>
          <a:prstGeom prst="roundRect">
            <a:avLst/>
          </a:prstGeom>
          <a:gradFill flip="none" rotWithShape="1">
            <a:gsLst>
              <a:gs pos="53000">
                <a:schemeClr val="accent1">
                  <a:alpha val="0"/>
                  <a:lumMod val="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A07864-9AEF-F655-9DC7-CE6B3D1C04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525" y="3595601"/>
            <a:ext cx="6076475" cy="32623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 txBox="1"/>
          <p:nvPr/>
        </p:nvSpPr>
        <p:spPr>
          <a:xfrm>
            <a:off x="380999" y="166687"/>
            <a:ext cx="8701007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2700" b="0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Μοντελοποίηση: </a:t>
            </a:r>
            <a:r>
              <a:rPr lang="en-US" sz="2700" b="0" i="0" u="none" strike="noStrike" cap="none" dirty="0" err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CatBoost</a:t>
            </a:r>
            <a:r>
              <a:rPr lang="en-US" sz="2700" b="0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(Categorical Boosting)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729DF1-5B4E-0430-B7F9-C5EC84D3F2F7}"/>
              </a:ext>
            </a:extLst>
          </p:cNvPr>
          <p:cNvSpPr txBox="1"/>
          <p:nvPr/>
        </p:nvSpPr>
        <p:spPr>
          <a:xfrm>
            <a:off x="6843791" y="4826675"/>
            <a:ext cx="340670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cat_model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CatBoostRegressor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iterations=1500,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learning_rate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=0.05,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depth=6,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loss_function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='RMSE',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eval_metric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='RMSE',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cat_features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cat_features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l-G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early_stopping_rounds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=50</a:t>
            </a:r>
          </a:p>
          <a:p>
            <a:r>
              <a:rPr lang="en-US" dirty="0"/>
              <a:t>)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B2AEA52-0C0D-D2AB-B1D0-A125B179DB47}"/>
              </a:ext>
            </a:extLst>
          </p:cNvPr>
          <p:cNvSpPr/>
          <p:nvPr/>
        </p:nvSpPr>
        <p:spPr>
          <a:xfrm>
            <a:off x="4209419" y="4438762"/>
            <a:ext cx="7966124" cy="2419238"/>
          </a:xfrm>
          <a:custGeom>
            <a:avLst/>
            <a:gdLst>
              <a:gd name="csX0" fmla="*/ 1239903 w 8989716"/>
              <a:gd name="csY0" fmla="*/ 216977 h 3068665"/>
              <a:gd name="csX1" fmla="*/ 929937 w 8989716"/>
              <a:gd name="csY1" fmla="*/ 232475 h 3068665"/>
              <a:gd name="csX2" fmla="*/ 867944 w 8989716"/>
              <a:gd name="csY2" fmla="*/ 263471 h 3068665"/>
              <a:gd name="csX3" fmla="*/ 774954 w 8989716"/>
              <a:gd name="csY3" fmla="*/ 294468 h 3068665"/>
              <a:gd name="csX4" fmla="*/ 712961 w 8989716"/>
              <a:gd name="csY4" fmla="*/ 340963 h 3068665"/>
              <a:gd name="csX5" fmla="*/ 619971 w 8989716"/>
              <a:gd name="csY5" fmla="*/ 402956 h 3068665"/>
              <a:gd name="csX6" fmla="*/ 325503 w 8989716"/>
              <a:gd name="csY6" fmla="*/ 712922 h 3068665"/>
              <a:gd name="csX7" fmla="*/ 170520 w 8989716"/>
              <a:gd name="csY7" fmla="*/ 898902 h 3068665"/>
              <a:gd name="csX8" fmla="*/ 31035 w 8989716"/>
              <a:gd name="csY8" fmla="*/ 1131377 h 3068665"/>
              <a:gd name="csX9" fmla="*/ 15537 w 8989716"/>
              <a:gd name="csY9" fmla="*/ 1534333 h 3068665"/>
              <a:gd name="csX10" fmla="*/ 93029 w 8989716"/>
              <a:gd name="csY10" fmla="*/ 1673817 h 3068665"/>
              <a:gd name="csX11" fmla="*/ 217015 w 8989716"/>
              <a:gd name="csY11" fmla="*/ 1952787 h 3068665"/>
              <a:gd name="csX12" fmla="*/ 279008 w 8989716"/>
              <a:gd name="csY12" fmla="*/ 2061275 h 3068665"/>
              <a:gd name="csX13" fmla="*/ 356500 w 8989716"/>
              <a:gd name="csY13" fmla="*/ 2169763 h 3068665"/>
              <a:gd name="csX14" fmla="*/ 418493 w 8989716"/>
              <a:gd name="csY14" fmla="*/ 2309248 h 3068665"/>
              <a:gd name="csX15" fmla="*/ 511483 w 8989716"/>
              <a:gd name="csY15" fmla="*/ 2402238 h 3068665"/>
              <a:gd name="csX16" fmla="*/ 774954 w 8989716"/>
              <a:gd name="csY16" fmla="*/ 2696705 h 3068665"/>
              <a:gd name="csX17" fmla="*/ 883442 w 8989716"/>
              <a:gd name="csY17" fmla="*/ 2743200 h 3068665"/>
              <a:gd name="csX18" fmla="*/ 1146913 w 8989716"/>
              <a:gd name="csY18" fmla="*/ 2867187 h 3068665"/>
              <a:gd name="csX19" fmla="*/ 1503374 w 8989716"/>
              <a:gd name="csY19" fmla="*/ 2991173 h 3068665"/>
              <a:gd name="csX20" fmla="*/ 2076812 w 8989716"/>
              <a:gd name="csY20" fmla="*/ 3068665 h 3068665"/>
              <a:gd name="csX21" fmla="*/ 2929218 w 8989716"/>
              <a:gd name="csY21" fmla="*/ 3053166 h 3068665"/>
              <a:gd name="csX22" fmla="*/ 3285679 w 8989716"/>
              <a:gd name="csY22" fmla="*/ 3006671 h 3068665"/>
              <a:gd name="csX23" fmla="*/ 3564649 w 8989716"/>
              <a:gd name="csY23" fmla="*/ 2975675 h 3068665"/>
              <a:gd name="csX24" fmla="*/ 4122588 w 8989716"/>
              <a:gd name="csY24" fmla="*/ 2851688 h 3068665"/>
              <a:gd name="csX25" fmla="*/ 4262073 w 8989716"/>
              <a:gd name="csY25" fmla="*/ 2820692 h 3068665"/>
              <a:gd name="csX26" fmla="*/ 4417056 w 8989716"/>
              <a:gd name="csY26" fmla="*/ 2774197 h 3068665"/>
              <a:gd name="csX27" fmla="*/ 4758018 w 8989716"/>
              <a:gd name="csY27" fmla="*/ 2789695 h 3068665"/>
              <a:gd name="csX28" fmla="*/ 5036988 w 8989716"/>
              <a:gd name="csY28" fmla="*/ 2820692 h 3068665"/>
              <a:gd name="csX29" fmla="*/ 5238466 w 8989716"/>
              <a:gd name="csY29" fmla="*/ 2836190 h 3068665"/>
              <a:gd name="csX30" fmla="*/ 6741801 w 8989716"/>
              <a:gd name="csY30" fmla="*/ 2727702 h 3068665"/>
              <a:gd name="csX31" fmla="*/ 7098262 w 8989716"/>
              <a:gd name="csY31" fmla="*/ 2634712 h 3068665"/>
              <a:gd name="csX32" fmla="*/ 7284242 w 8989716"/>
              <a:gd name="csY32" fmla="*/ 2572719 h 3068665"/>
              <a:gd name="csX33" fmla="*/ 7408229 w 8989716"/>
              <a:gd name="csY33" fmla="*/ 2526224 h 3068665"/>
              <a:gd name="csX34" fmla="*/ 7547713 w 8989716"/>
              <a:gd name="csY34" fmla="*/ 2510726 h 3068665"/>
              <a:gd name="csX35" fmla="*/ 7997164 w 8989716"/>
              <a:gd name="csY35" fmla="*/ 2541722 h 3068665"/>
              <a:gd name="csX36" fmla="*/ 8152147 w 8989716"/>
              <a:gd name="csY36" fmla="*/ 2572719 h 3068665"/>
              <a:gd name="csX37" fmla="*/ 8570601 w 8989716"/>
              <a:gd name="csY37" fmla="*/ 2526224 h 3068665"/>
              <a:gd name="csX38" fmla="*/ 8834073 w 8989716"/>
              <a:gd name="csY38" fmla="*/ 2371241 h 3068665"/>
              <a:gd name="csX39" fmla="*/ 8958059 w 8989716"/>
              <a:gd name="csY39" fmla="*/ 2216258 h 3068665"/>
              <a:gd name="csX40" fmla="*/ 8989056 w 8989716"/>
              <a:gd name="csY40" fmla="*/ 2123268 h 3068665"/>
              <a:gd name="csX41" fmla="*/ 8911564 w 8989716"/>
              <a:gd name="csY41" fmla="*/ 1921790 h 3068665"/>
              <a:gd name="csX42" fmla="*/ 8508608 w 8989716"/>
              <a:gd name="csY42" fmla="*/ 1472339 h 3068665"/>
              <a:gd name="csX43" fmla="*/ 8214140 w 8989716"/>
              <a:gd name="csY43" fmla="*/ 1208868 h 3068665"/>
              <a:gd name="csX44" fmla="*/ 8028161 w 8989716"/>
              <a:gd name="csY44" fmla="*/ 1038387 h 3068665"/>
              <a:gd name="csX45" fmla="*/ 7857679 w 8989716"/>
              <a:gd name="csY45" fmla="*/ 914400 h 3068665"/>
              <a:gd name="csX46" fmla="*/ 7687198 w 8989716"/>
              <a:gd name="csY46" fmla="*/ 774916 h 3068665"/>
              <a:gd name="csX47" fmla="*/ 7516717 w 8989716"/>
              <a:gd name="csY47" fmla="*/ 712922 h 3068665"/>
              <a:gd name="csX48" fmla="*/ 6927781 w 8989716"/>
              <a:gd name="csY48" fmla="*/ 573438 h 3068665"/>
              <a:gd name="csX49" fmla="*/ 6602317 w 8989716"/>
              <a:gd name="csY49" fmla="*/ 588936 h 3068665"/>
              <a:gd name="csX50" fmla="*/ 6354344 w 8989716"/>
              <a:gd name="csY50" fmla="*/ 635431 h 3068665"/>
              <a:gd name="csX51" fmla="*/ 6183862 w 8989716"/>
              <a:gd name="csY51" fmla="*/ 650929 h 3068665"/>
              <a:gd name="csX52" fmla="*/ 5517435 w 8989716"/>
              <a:gd name="csY52" fmla="*/ 635431 h 3068665"/>
              <a:gd name="csX53" fmla="*/ 5284961 w 8989716"/>
              <a:gd name="csY53" fmla="*/ 542441 h 3068665"/>
              <a:gd name="csX54" fmla="*/ 5129978 w 8989716"/>
              <a:gd name="csY54" fmla="*/ 480448 h 3068665"/>
              <a:gd name="csX55" fmla="*/ 4866507 w 8989716"/>
              <a:gd name="csY55" fmla="*/ 294468 h 3068665"/>
              <a:gd name="csX56" fmla="*/ 4742520 w 8989716"/>
              <a:gd name="csY56" fmla="*/ 185980 h 3068665"/>
              <a:gd name="csX57" fmla="*/ 4556540 w 8989716"/>
              <a:gd name="csY57" fmla="*/ 77492 h 3068665"/>
              <a:gd name="csX58" fmla="*/ 4463551 w 8989716"/>
              <a:gd name="csY58" fmla="*/ 30997 h 3068665"/>
              <a:gd name="csX59" fmla="*/ 4246574 w 8989716"/>
              <a:gd name="csY59" fmla="*/ 0 h 3068665"/>
              <a:gd name="csX60" fmla="*/ 3425164 w 8989716"/>
              <a:gd name="csY60" fmla="*/ 30997 h 3068665"/>
              <a:gd name="csX61" fmla="*/ 3239185 w 8989716"/>
              <a:gd name="csY61" fmla="*/ 61994 h 3068665"/>
              <a:gd name="csX62" fmla="*/ 2913720 w 8989716"/>
              <a:gd name="csY62" fmla="*/ 77492 h 3068665"/>
              <a:gd name="csX63" fmla="*/ 2681246 w 8989716"/>
              <a:gd name="csY63" fmla="*/ 92990 h 3068665"/>
              <a:gd name="csX64" fmla="*/ 2526262 w 8989716"/>
              <a:gd name="csY64" fmla="*/ 108488 h 3068665"/>
              <a:gd name="csX65" fmla="*/ 2200798 w 8989716"/>
              <a:gd name="csY65" fmla="*/ 123987 h 3068665"/>
              <a:gd name="csX66" fmla="*/ 2045815 w 8989716"/>
              <a:gd name="csY66" fmla="*/ 139485 h 3068665"/>
              <a:gd name="csX67" fmla="*/ 1813340 w 8989716"/>
              <a:gd name="csY67" fmla="*/ 154983 h 3068665"/>
              <a:gd name="csX68" fmla="*/ 1689354 w 8989716"/>
              <a:gd name="csY68" fmla="*/ 170482 h 3068665"/>
              <a:gd name="csX69" fmla="*/ 1580866 w 8989716"/>
              <a:gd name="csY69" fmla="*/ 185980 h 3068665"/>
              <a:gd name="csX70" fmla="*/ 1239903 w 8989716"/>
              <a:gd name="csY70" fmla="*/ 216977 h 30686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</a:cxnLst>
            <a:rect l="l" t="t" r="r" b="b"/>
            <a:pathLst>
              <a:path w="8989716" h="3068665">
                <a:moveTo>
                  <a:pt x="1239903" y="216977"/>
                </a:moveTo>
                <a:cubicBezTo>
                  <a:pt x="1131415" y="224726"/>
                  <a:pt x="1032589" y="219644"/>
                  <a:pt x="929937" y="232475"/>
                </a:cubicBezTo>
                <a:cubicBezTo>
                  <a:pt x="907012" y="235341"/>
                  <a:pt x="889395" y="254891"/>
                  <a:pt x="867944" y="263471"/>
                </a:cubicBezTo>
                <a:cubicBezTo>
                  <a:pt x="837608" y="275606"/>
                  <a:pt x="805951" y="284136"/>
                  <a:pt x="774954" y="294468"/>
                </a:cubicBezTo>
                <a:cubicBezTo>
                  <a:pt x="754290" y="309966"/>
                  <a:pt x="734122" y="326150"/>
                  <a:pt x="712961" y="340963"/>
                </a:cubicBezTo>
                <a:cubicBezTo>
                  <a:pt x="682442" y="362326"/>
                  <a:pt x="646845" y="377157"/>
                  <a:pt x="619971" y="402956"/>
                </a:cubicBezTo>
                <a:cubicBezTo>
                  <a:pt x="517164" y="501651"/>
                  <a:pt x="416738" y="603440"/>
                  <a:pt x="325503" y="712922"/>
                </a:cubicBezTo>
                <a:cubicBezTo>
                  <a:pt x="273842" y="774915"/>
                  <a:pt x="219426" y="834713"/>
                  <a:pt x="170520" y="898902"/>
                </a:cubicBezTo>
                <a:cubicBezTo>
                  <a:pt x="88910" y="1006015"/>
                  <a:pt x="83541" y="1026365"/>
                  <a:pt x="31035" y="1131377"/>
                </a:cubicBezTo>
                <a:cubicBezTo>
                  <a:pt x="22023" y="1212491"/>
                  <a:pt x="-23400" y="1424013"/>
                  <a:pt x="15537" y="1534333"/>
                </a:cubicBezTo>
                <a:cubicBezTo>
                  <a:pt x="33239" y="1584489"/>
                  <a:pt x="69955" y="1625894"/>
                  <a:pt x="93029" y="1673817"/>
                </a:cubicBezTo>
                <a:cubicBezTo>
                  <a:pt x="137174" y="1765503"/>
                  <a:pt x="166528" y="1864434"/>
                  <a:pt x="217015" y="1952787"/>
                </a:cubicBezTo>
                <a:cubicBezTo>
                  <a:pt x="237679" y="1988950"/>
                  <a:pt x="256485" y="2026240"/>
                  <a:pt x="279008" y="2061275"/>
                </a:cubicBezTo>
                <a:cubicBezTo>
                  <a:pt x="303040" y="2098657"/>
                  <a:pt x="334713" y="2131030"/>
                  <a:pt x="356500" y="2169763"/>
                </a:cubicBezTo>
                <a:cubicBezTo>
                  <a:pt x="381445" y="2214109"/>
                  <a:pt x="390270" y="2266913"/>
                  <a:pt x="418493" y="2309248"/>
                </a:cubicBezTo>
                <a:cubicBezTo>
                  <a:pt x="442809" y="2345722"/>
                  <a:pt x="483420" y="2368562"/>
                  <a:pt x="511483" y="2402238"/>
                </a:cubicBezTo>
                <a:cubicBezTo>
                  <a:pt x="604566" y="2513937"/>
                  <a:pt x="602191" y="2622663"/>
                  <a:pt x="774954" y="2696705"/>
                </a:cubicBezTo>
                <a:cubicBezTo>
                  <a:pt x="811117" y="2712203"/>
                  <a:pt x="847676" y="2726807"/>
                  <a:pt x="883442" y="2743200"/>
                </a:cubicBezTo>
                <a:cubicBezTo>
                  <a:pt x="971678" y="2783642"/>
                  <a:pt x="1056320" y="2832344"/>
                  <a:pt x="1146913" y="2867187"/>
                </a:cubicBezTo>
                <a:cubicBezTo>
                  <a:pt x="1274796" y="2916372"/>
                  <a:pt x="1372369" y="2959732"/>
                  <a:pt x="1503374" y="2991173"/>
                </a:cubicBezTo>
                <a:cubicBezTo>
                  <a:pt x="1755360" y="3051650"/>
                  <a:pt x="1790578" y="3042643"/>
                  <a:pt x="2076812" y="3068665"/>
                </a:cubicBezTo>
                <a:cubicBezTo>
                  <a:pt x="2360947" y="3063499"/>
                  <a:pt x="2645409" y="3067721"/>
                  <a:pt x="2929218" y="3053166"/>
                </a:cubicBezTo>
                <a:cubicBezTo>
                  <a:pt x="3048888" y="3047029"/>
                  <a:pt x="3166733" y="3021176"/>
                  <a:pt x="3285679" y="3006671"/>
                </a:cubicBezTo>
                <a:cubicBezTo>
                  <a:pt x="3378553" y="2995345"/>
                  <a:pt x="3472232" y="2990267"/>
                  <a:pt x="3564649" y="2975675"/>
                </a:cubicBezTo>
                <a:cubicBezTo>
                  <a:pt x="3809122" y="2937074"/>
                  <a:pt x="3892908" y="2906811"/>
                  <a:pt x="4122588" y="2851688"/>
                </a:cubicBezTo>
                <a:cubicBezTo>
                  <a:pt x="4168902" y="2840573"/>
                  <a:pt x="4216052" y="2832964"/>
                  <a:pt x="4262073" y="2820692"/>
                </a:cubicBezTo>
                <a:cubicBezTo>
                  <a:pt x="4827895" y="2669806"/>
                  <a:pt x="4028284" y="2871387"/>
                  <a:pt x="4417056" y="2774197"/>
                </a:cubicBezTo>
                <a:cubicBezTo>
                  <a:pt x="4530710" y="2779363"/>
                  <a:pt x="4644565" y="2781186"/>
                  <a:pt x="4758018" y="2789695"/>
                </a:cubicBezTo>
                <a:cubicBezTo>
                  <a:pt x="4851318" y="2796693"/>
                  <a:pt x="4943861" y="2811680"/>
                  <a:pt x="5036988" y="2820692"/>
                </a:cubicBezTo>
                <a:cubicBezTo>
                  <a:pt x="5104033" y="2827180"/>
                  <a:pt x="5171307" y="2831024"/>
                  <a:pt x="5238466" y="2836190"/>
                </a:cubicBezTo>
                <a:cubicBezTo>
                  <a:pt x="5835147" y="2826566"/>
                  <a:pt x="6197247" y="2869760"/>
                  <a:pt x="6741801" y="2727702"/>
                </a:cubicBezTo>
                <a:cubicBezTo>
                  <a:pt x="6860621" y="2696705"/>
                  <a:pt x="6981767" y="2673544"/>
                  <a:pt x="7098262" y="2634712"/>
                </a:cubicBezTo>
                <a:lnTo>
                  <a:pt x="7284242" y="2572719"/>
                </a:lnTo>
                <a:cubicBezTo>
                  <a:pt x="7325903" y="2558138"/>
                  <a:pt x="7365263" y="2536334"/>
                  <a:pt x="7408229" y="2526224"/>
                </a:cubicBezTo>
                <a:cubicBezTo>
                  <a:pt x="7453766" y="2515509"/>
                  <a:pt x="7501218" y="2515892"/>
                  <a:pt x="7547713" y="2510726"/>
                </a:cubicBezTo>
                <a:cubicBezTo>
                  <a:pt x="7697530" y="2521058"/>
                  <a:pt x="7847775" y="2526400"/>
                  <a:pt x="7997164" y="2541722"/>
                </a:cubicBezTo>
                <a:cubicBezTo>
                  <a:pt x="8049573" y="2547097"/>
                  <a:pt x="8099482" y="2574142"/>
                  <a:pt x="8152147" y="2572719"/>
                </a:cubicBezTo>
                <a:cubicBezTo>
                  <a:pt x="8292439" y="2568927"/>
                  <a:pt x="8431116" y="2541722"/>
                  <a:pt x="8570601" y="2526224"/>
                </a:cubicBezTo>
                <a:cubicBezTo>
                  <a:pt x="8663680" y="2488992"/>
                  <a:pt x="8768466" y="2453250"/>
                  <a:pt x="8834073" y="2371241"/>
                </a:cubicBezTo>
                <a:lnTo>
                  <a:pt x="8958059" y="2216258"/>
                </a:lnTo>
                <a:cubicBezTo>
                  <a:pt x="8968391" y="2185261"/>
                  <a:pt x="8994152" y="2155542"/>
                  <a:pt x="8989056" y="2123268"/>
                </a:cubicBezTo>
                <a:cubicBezTo>
                  <a:pt x="8977834" y="2052193"/>
                  <a:pt x="8943744" y="1986149"/>
                  <a:pt x="8911564" y="1921790"/>
                </a:cubicBezTo>
                <a:cubicBezTo>
                  <a:pt x="8828983" y="1756629"/>
                  <a:pt x="8618926" y="1571045"/>
                  <a:pt x="8508608" y="1472339"/>
                </a:cubicBezTo>
                <a:lnTo>
                  <a:pt x="8214140" y="1208868"/>
                </a:lnTo>
                <a:cubicBezTo>
                  <a:pt x="8151731" y="1152498"/>
                  <a:pt x="8096174" y="1087851"/>
                  <a:pt x="8028161" y="1038387"/>
                </a:cubicBezTo>
                <a:cubicBezTo>
                  <a:pt x="7971334" y="997058"/>
                  <a:pt x="7913280" y="957364"/>
                  <a:pt x="7857679" y="914400"/>
                </a:cubicBezTo>
                <a:cubicBezTo>
                  <a:pt x="7799580" y="869505"/>
                  <a:pt x="7750411" y="812269"/>
                  <a:pt x="7687198" y="774916"/>
                </a:cubicBezTo>
                <a:cubicBezTo>
                  <a:pt x="7635140" y="744154"/>
                  <a:pt x="7574634" y="730297"/>
                  <a:pt x="7516717" y="712922"/>
                </a:cubicBezTo>
                <a:cubicBezTo>
                  <a:pt x="7085371" y="583518"/>
                  <a:pt x="7202704" y="603984"/>
                  <a:pt x="6927781" y="573438"/>
                </a:cubicBezTo>
                <a:cubicBezTo>
                  <a:pt x="6819293" y="578604"/>
                  <a:pt x="6710652" y="581198"/>
                  <a:pt x="6602317" y="588936"/>
                </a:cubicBezTo>
                <a:cubicBezTo>
                  <a:pt x="6464686" y="598767"/>
                  <a:pt x="6506010" y="612681"/>
                  <a:pt x="6354344" y="635431"/>
                </a:cubicBezTo>
                <a:cubicBezTo>
                  <a:pt x="6297914" y="643896"/>
                  <a:pt x="6240689" y="645763"/>
                  <a:pt x="6183862" y="650929"/>
                </a:cubicBezTo>
                <a:cubicBezTo>
                  <a:pt x="5961720" y="645763"/>
                  <a:pt x="5739254" y="648479"/>
                  <a:pt x="5517435" y="635431"/>
                </a:cubicBezTo>
                <a:cubicBezTo>
                  <a:pt x="5392930" y="628107"/>
                  <a:pt x="5391439" y="592548"/>
                  <a:pt x="5284961" y="542441"/>
                </a:cubicBezTo>
                <a:cubicBezTo>
                  <a:pt x="5234616" y="518749"/>
                  <a:pt x="5181639" y="501112"/>
                  <a:pt x="5129978" y="480448"/>
                </a:cubicBezTo>
                <a:cubicBezTo>
                  <a:pt x="4835512" y="228048"/>
                  <a:pt x="5239717" y="564008"/>
                  <a:pt x="4866507" y="294468"/>
                </a:cubicBezTo>
                <a:cubicBezTo>
                  <a:pt x="4821987" y="262315"/>
                  <a:pt x="4787509" y="217472"/>
                  <a:pt x="4742520" y="185980"/>
                </a:cubicBezTo>
                <a:cubicBezTo>
                  <a:pt x="4683724" y="144823"/>
                  <a:pt x="4620733" y="109589"/>
                  <a:pt x="4556540" y="77492"/>
                </a:cubicBezTo>
                <a:cubicBezTo>
                  <a:pt x="4525544" y="61994"/>
                  <a:pt x="4496428" y="41956"/>
                  <a:pt x="4463551" y="30997"/>
                </a:cubicBezTo>
                <a:cubicBezTo>
                  <a:pt x="4436741" y="22060"/>
                  <a:pt x="4259571" y="1625"/>
                  <a:pt x="4246574" y="0"/>
                </a:cubicBezTo>
                <a:cubicBezTo>
                  <a:pt x="3972771" y="10332"/>
                  <a:pt x="3698645" y="14167"/>
                  <a:pt x="3425164" y="30997"/>
                </a:cubicBezTo>
                <a:cubicBezTo>
                  <a:pt x="3362435" y="34857"/>
                  <a:pt x="3301775" y="56304"/>
                  <a:pt x="3239185" y="61994"/>
                </a:cubicBezTo>
                <a:cubicBezTo>
                  <a:pt x="3131020" y="71827"/>
                  <a:pt x="3022164" y="71467"/>
                  <a:pt x="2913720" y="77492"/>
                </a:cubicBezTo>
                <a:cubicBezTo>
                  <a:pt x="2836176" y="81800"/>
                  <a:pt x="2758662" y="86797"/>
                  <a:pt x="2681246" y="92990"/>
                </a:cubicBezTo>
                <a:cubicBezTo>
                  <a:pt x="2629492" y="97130"/>
                  <a:pt x="2578073" y="105145"/>
                  <a:pt x="2526262" y="108488"/>
                </a:cubicBezTo>
                <a:cubicBezTo>
                  <a:pt x="2417876" y="115481"/>
                  <a:pt x="2309286" y="118821"/>
                  <a:pt x="2200798" y="123987"/>
                </a:cubicBezTo>
                <a:cubicBezTo>
                  <a:pt x="2149137" y="129153"/>
                  <a:pt x="2097568" y="135345"/>
                  <a:pt x="2045815" y="139485"/>
                </a:cubicBezTo>
                <a:cubicBezTo>
                  <a:pt x="1968399" y="145678"/>
                  <a:pt x="1890712" y="148255"/>
                  <a:pt x="1813340" y="154983"/>
                </a:cubicBezTo>
                <a:cubicBezTo>
                  <a:pt x="1771846" y="158591"/>
                  <a:pt x="1730639" y="164977"/>
                  <a:pt x="1689354" y="170482"/>
                </a:cubicBezTo>
                <a:cubicBezTo>
                  <a:pt x="1653145" y="175310"/>
                  <a:pt x="1617296" y="183282"/>
                  <a:pt x="1580866" y="185980"/>
                </a:cubicBezTo>
                <a:cubicBezTo>
                  <a:pt x="1368156" y="201736"/>
                  <a:pt x="1348391" y="209228"/>
                  <a:pt x="1239903" y="216977"/>
                </a:cubicBezTo>
                <a:close/>
              </a:path>
            </a:pathLst>
          </a:custGeom>
          <a:gradFill flip="none" rotWithShape="1">
            <a:gsLst>
              <a:gs pos="40000">
                <a:schemeClr val="accent1">
                  <a:alpha val="0"/>
                  <a:lumMod val="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05604D-F504-49F0-5D22-A1D91AD2A8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39" y="4631627"/>
            <a:ext cx="5748799" cy="2162084"/>
          </a:xfrm>
          <a:prstGeom prst="rect">
            <a:avLst/>
          </a:prstGeom>
        </p:spPr>
      </p:pic>
      <p:graphicFrame>
        <p:nvGraphicFramePr>
          <p:cNvPr id="261" name="TextBox 2">
            <a:extLst>
              <a:ext uri="{FF2B5EF4-FFF2-40B4-BE49-F238E27FC236}">
                <a16:creationId xmlns:a16="http://schemas.microsoft.com/office/drawing/2014/main" id="{A28FAA49-20E8-C6EB-9DBC-99201E93E1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3423273"/>
              </p:ext>
            </p:extLst>
          </p:nvPr>
        </p:nvGraphicFramePr>
        <p:xfrm>
          <a:off x="380999" y="779964"/>
          <a:ext cx="9700981" cy="3787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0">
          <a:extLst>
            <a:ext uri="{FF2B5EF4-FFF2-40B4-BE49-F238E27FC236}">
              <a16:creationId xmlns:a16="http://schemas.microsoft.com/office/drawing/2014/main" id="{1C75BE01-742F-7030-D096-2741BBC0E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6" descr="image.png">
            <a:extLst>
              <a:ext uri="{FF2B5EF4-FFF2-40B4-BE49-F238E27FC236}">
                <a16:creationId xmlns:a16="http://schemas.microsoft.com/office/drawing/2014/main" id="{91283E41-E4A8-5FF2-0B22-FCC80D40D82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6">
            <a:extLst>
              <a:ext uri="{FF2B5EF4-FFF2-40B4-BE49-F238E27FC236}">
                <a16:creationId xmlns:a16="http://schemas.microsoft.com/office/drawing/2014/main" id="{FF6D2FFA-27B0-03DF-0109-63D5F26EFBE1}"/>
              </a:ext>
            </a:extLst>
          </p:cNvPr>
          <p:cNvSpPr txBox="1"/>
          <p:nvPr/>
        </p:nvSpPr>
        <p:spPr>
          <a:xfrm>
            <a:off x="381000" y="166687"/>
            <a:ext cx="6714276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13. Σύγκριση Αποδόσεων (Benchmarking)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aphicFrame>
        <p:nvGraphicFramePr>
          <p:cNvPr id="274" name="Google Shape;274;p26">
            <a:extLst>
              <a:ext uri="{FF2B5EF4-FFF2-40B4-BE49-F238E27FC236}">
                <a16:creationId xmlns:a16="http://schemas.microsoft.com/office/drawing/2014/main" id="{1EBDFE07-4B1A-C688-5438-0A31653CDC8F}"/>
              </a:ext>
            </a:extLst>
          </p:cNvPr>
          <p:cNvGraphicFramePr/>
          <p:nvPr/>
        </p:nvGraphicFramePr>
        <p:xfrm>
          <a:off x="381000" y="1524000"/>
          <a:ext cx="11430025" cy="1762125"/>
        </p:xfrm>
        <a:graphic>
          <a:graphicData uri="http://schemas.openxmlformats.org/drawingml/2006/table">
            <a:tbl>
              <a:tblPr firstRow="1" bandRow="1">
                <a:noFill/>
                <a:tableStyleId>{B9922DEC-42A0-4DF6-905A-409E4B9013D0}</a:tableStyleId>
              </a:tblPr>
              <a:tblGrid>
                <a:gridCol w="25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3F0D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Μοντέλο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3F0D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Τεχνική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3F0D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RMSE (Lower is better)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CatBoost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Gradient Boosting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1CAA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~88.06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LSTM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Deep Learning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~108.48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76" name="Google Shape;276;p26">
            <a:extLst>
              <a:ext uri="{FF2B5EF4-FFF2-40B4-BE49-F238E27FC236}">
                <a16:creationId xmlns:a16="http://schemas.microsoft.com/office/drawing/2014/main" id="{94AD6DF2-64EB-53D5-BF16-CE757C1F2AF6}"/>
              </a:ext>
            </a:extLst>
          </p:cNvPr>
          <p:cNvSpPr/>
          <p:nvPr/>
        </p:nvSpPr>
        <p:spPr>
          <a:xfrm>
            <a:off x="381000" y="2681287"/>
            <a:ext cx="256996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6">
            <a:extLst>
              <a:ext uri="{FF2B5EF4-FFF2-40B4-BE49-F238E27FC236}">
                <a16:creationId xmlns:a16="http://schemas.microsoft.com/office/drawing/2014/main" id="{F5D0193E-350F-7349-E9E6-CD577E9D220A}"/>
              </a:ext>
            </a:extLst>
          </p:cNvPr>
          <p:cNvSpPr/>
          <p:nvPr/>
        </p:nvSpPr>
        <p:spPr>
          <a:xfrm>
            <a:off x="2950964" y="2681287"/>
            <a:ext cx="3900041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6">
            <a:extLst>
              <a:ext uri="{FF2B5EF4-FFF2-40B4-BE49-F238E27FC236}">
                <a16:creationId xmlns:a16="http://schemas.microsoft.com/office/drawing/2014/main" id="{5DC0BC8F-26EE-1A1F-0678-E65838DCB547}"/>
              </a:ext>
            </a:extLst>
          </p:cNvPr>
          <p:cNvSpPr/>
          <p:nvPr/>
        </p:nvSpPr>
        <p:spPr>
          <a:xfrm>
            <a:off x="6851005" y="2681287"/>
            <a:ext cx="495999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6">
            <a:extLst>
              <a:ext uri="{FF2B5EF4-FFF2-40B4-BE49-F238E27FC236}">
                <a16:creationId xmlns:a16="http://schemas.microsoft.com/office/drawing/2014/main" id="{AFD36059-2F17-57D2-CC06-112415228FBF}"/>
              </a:ext>
            </a:extLst>
          </p:cNvPr>
          <p:cNvSpPr/>
          <p:nvPr/>
        </p:nvSpPr>
        <p:spPr>
          <a:xfrm>
            <a:off x="381000" y="3271837"/>
            <a:ext cx="256996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6">
            <a:extLst>
              <a:ext uri="{FF2B5EF4-FFF2-40B4-BE49-F238E27FC236}">
                <a16:creationId xmlns:a16="http://schemas.microsoft.com/office/drawing/2014/main" id="{AA1BD797-E553-A2FE-9C3F-382DEA39D603}"/>
              </a:ext>
            </a:extLst>
          </p:cNvPr>
          <p:cNvSpPr/>
          <p:nvPr/>
        </p:nvSpPr>
        <p:spPr>
          <a:xfrm>
            <a:off x="2950964" y="3271837"/>
            <a:ext cx="3900041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6">
            <a:extLst>
              <a:ext uri="{FF2B5EF4-FFF2-40B4-BE49-F238E27FC236}">
                <a16:creationId xmlns:a16="http://schemas.microsoft.com/office/drawing/2014/main" id="{E9E01BC7-C106-BFDA-8FB5-C02EBB8DF280}"/>
              </a:ext>
            </a:extLst>
          </p:cNvPr>
          <p:cNvSpPr/>
          <p:nvPr/>
        </p:nvSpPr>
        <p:spPr>
          <a:xfrm>
            <a:off x="6851005" y="3271837"/>
            <a:ext cx="495999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41815F-403E-467D-23AA-E6DCC4136E1B}"/>
              </a:ext>
            </a:extLst>
          </p:cNvPr>
          <p:cNvSpPr txBox="1"/>
          <p:nvPr/>
        </p:nvSpPr>
        <p:spPr>
          <a:xfrm>
            <a:off x="1066799" y="3571876"/>
            <a:ext cx="1005840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600" b="1" dirty="0"/>
              <a:t>Μετρική Αξιολόγησης:</a:t>
            </a:r>
            <a:r>
              <a:rPr lang="el-GR" sz="1600" dirty="0"/>
              <a:t> Χρήση της Ρίζας Μέσου Τετραγωνικού Σφάλματος (RMSE), η οποία τιμωρεί δυσανάλογα τα μεγάλα σφάλματα (κρίσιμο για την αποφυγή Stock-outs).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600" b="1" dirty="0"/>
              <a:t>Αποτέλεσμα:</a:t>
            </a:r>
            <a:r>
              <a:rPr lang="el-GR" sz="1600" dirty="0"/>
              <a:t> Η αρχιτεκτονική Gradient Boosting (CatBoost) υπερτερεί σημαντικά έναντι της Βαθιάς Μάθησης (LSTM).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600" b="1" dirty="0"/>
              <a:t>Ανάλυση Υπεροχής:</a:t>
            </a:r>
            <a:r>
              <a:rPr lang="el-GR" sz="1600" dirty="0"/>
              <a:t> Τα δέντρα απόφασης διαχειρίζονται πιο αποτελεσματικά τις "σκληρές" μεταβολές (Hard Boundaries) της λιανικής, όπως η μετάβαση από την Παρασκευή στο Σάββατο.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600" b="1" dirty="0"/>
              <a:t>Inference:</a:t>
            </a:r>
            <a:r>
              <a:rPr lang="el-GR" sz="1600" dirty="0"/>
              <a:t> Το CatBoost πέτυχε το χαμηλότερο σφάλμα με το 1/10 του χρόνου εκπαίδευσης του LSTM.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1D1D8A-CB5A-51AF-31FF-6363C599F7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799" y="5506822"/>
            <a:ext cx="9694124" cy="118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33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6"/>
          <p:cNvSpPr txBox="1"/>
          <p:nvPr/>
        </p:nvSpPr>
        <p:spPr>
          <a:xfrm>
            <a:off x="381000" y="180975"/>
            <a:ext cx="115681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Explainable AI (XAI): SHAP Summary Plot</a:t>
            </a:r>
            <a:endParaRPr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96B2E1-7403-2676-B988-7924F5B0959D}"/>
              </a:ext>
            </a:extLst>
          </p:cNvPr>
          <p:cNvSpPr txBox="1"/>
          <p:nvPr/>
        </p:nvSpPr>
        <p:spPr>
          <a:xfrm>
            <a:off x="381000" y="5292030"/>
            <a:ext cx="791963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 </a:t>
            </a:r>
            <a:r>
              <a:rPr lang="el-GR" dirty="0"/>
              <a:t>Δημιουργία του </a:t>
            </a:r>
            <a:r>
              <a:rPr lang="en-US" dirty="0"/>
              <a:t>Explainer </a:t>
            </a:r>
            <a:r>
              <a:rPr lang="el-GR" dirty="0"/>
              <a:t>για το δέντρο του </a:t>
            </a:r>
            <a:r>
              <a:rPr lang="en-US" dirty="0" err="1"/>
              <a:t>CatBoost</a:t>
            </a:r>
            <a:endParaRPr lang="en-US" dirty="0"/>
          </a:p>
          <a:p>
            <a:r>
              <a:rPr lang="en-US" dirty="0"/>
              <a:t>explainer = </a:t>
            </a:r>
            <a:r>
              <a:rPr lang="en-US" dirty="0" err="1"/>
              <a:t>shap.TreeExplainer</a:t>
            </a:r>
            <a:r>
              <a:rPr lang="en-US" dirty="0"/>
              <a:t>(</a:t>
            </a:r>
            <a:r>
              <a:rPr lang="en-US" dirty="0" err="1"/>
              <a:t>cat_model</a:t>
            </a:r>
            <a:r>
              <a:rPr lang="en-US" dirty="0"/>
              <a:t>)</a:t>
            </a:r>
          </a:p>
          <a:p>
            <a:r>
              <a:rPr lang="en-US" dirty="0" err="1"/>
              <a:t>shap_values</a:t>
            </a:r>
            <a:r>
              <a:rPr lang="en-US" dirty="0"/>
              <a:t> = </a:t>
            </a:r>
            <a:r>
              <a:rPr lang="en-US" dirty="0" err="1"/>
              <a:t>explainer.shap_values</a:t>
            </a:r>
            <a:r>
              <a:rPr lang="en-US" dirty="0"/>
              <a:t>(</a:t>
            </a:r>
            <a:r>
              <a:rPr lang="en-US" dirty="0" err="1"/>
              <a:t>X_train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# </a:t>
            </a:r>
            <a:r>
              <a:rPr lang="el-GR" dirty="0"/>
              <a:t>Οπτικοποίηση </a:t>
            </a:r>
            <a:r>
              <a:rPr lang="en-US" dirty="0"/>
              <a:t>Summary Plot (</a:t>
            </a:r>
            <a:r>
              <a:rPr lang="en-US" dirty="0" err="1"/>
              <a:t>Beeswarm</a:t>
            </a:r>
            <a:r>
              <a:rPr lang="en-US" dirty="0"/>
              <a:t>)</a:t>
            </a:r>
          </a:p>
          <a:p>
            <a:r>
              <a:rPr lang="en-US" dirty="0" err="1"/>
              <a:t>shap.summary_plot</a:t>
            </a:r>
            <a:r>
              <a:rPr lang="en-US" dirty="0"/>
              <a:t>(</a:t>
            </a:r>
            <a:r>
              <a:rPr lang="en-US" dirty="0" err="1"/>
              <a:t>shap_values</a:t>
            </a:r>
            <a:r>
              <a:rPr lang="en-US" dirty="0"/>
              <a:t>, </a:t>
            </a:r>
            <a:r>
              <a:rPr lang="en-US" dirty="0" err="1"/>
              <a:t>X_train</a:t>
            </a:r>
            <a:r>
              <a:rPr lang="en-US" dirty="0"/>
              <a:t>, </a:t>
            </a:r>
            <a:r>
              <a:rPr lang="en-US" dirty="0" err="1"/>
              <a:t>max_display</a:t>
            </a:r>
            <a:r>
              <a:rPr lang="en-US" dirty="0"/>
              <a:t>=10)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E5D145-F71C-E4C4-B94E-3D2120B4DC96}"/>
              </a:ext>
            </a:extLst>
          </p:cNvPr>
          <p:cNvSpPr txBox="1"/>
          <p:nvPr/>
        </p:nvSpPr>
        <p:spPr>
          <a:xfrm>
            <a:off x="0" y="815016"/>
            <a:ext cx="652478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600" b="1" dirty="0"/>
              <a:t>Διαφάνεια Μοντέλου:</a:t>
            </a:r>
            <a:r>
              <a:rPr lang="el-GR" sz="1600" dirty="0"/>
              <a:t> </a:t>
            </a:r>
            <a:r>
              <a:rPr lang="el-GR" sz="1600" b="1" dirty="0"/>
              <a:t>Διαφάνεια Μοντέλου:</a:t>
            </a:r>
            <a:r>
              <a:rPr lang="el-GR" sz="1600" dirty="0"/>
              <a:t> Το πλαίσιο SHAP ανοίγει το "μαύρο κουτί" του CatBoost, αποκαλύπτοντας όχι μόνο τη σημαντικότητα αλλά και την </a:t>
            </a:r>
            <a:r>
              <a:rPr lang="el-GR" sz="1600" i="1" dirty="0"/>
              <a:t>κατεύθυνση</a:t>
            </a:r>
            <a:r>
              <a:rPr lang="el-GR" sz="1600" dirty="0"/>
              <a:t> της επιρροής κάθε μεταβλητής (θετική ή αρνητική).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600" b="1" dirty="0"/>
              <a:t>Ισχυρό Momentum Πωλήσεων:</a:t>
            </a:r>
            <a:r>
              <a:rPr lang="el-GR" sz="1600" dirty="0"/>
              <a:t> Ο κυλιόμενος μέσος όρος (</a:t>
            </a:r>
            <a:r>
              <a:rPr lang="el-GR" dirty="0"/>
              <a:t>Rolling_Mean_7</a:t>
            </a:r>
            <a:r>
              <a:rPr lang="el-GR" sz="1600" dirty="0"/>
              <a:t>) και το </a:t>
            </a:r>
            <a:r>
              <a:rPr lang="el-GR" dirty="0"/>
              <a:t>Lag_1</a:t>
            </a:r>
            <a:r>
              <a:rPr lang="el-GR" sz="1600" dirty="0"/>
              <a:t> κυριαρχούν. Οι υψηλές τιμές τους (κόκκινες τελείες) βρίσκονται όλες δεξιά, αποδεικνύοντας ότι οι ισχυρές πωλήσεις των προηγούμενων ημερών ωθούν δυναμικά τη σημερινή ζήτηση.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600" b="1" dirty="0"/>
              <a:t>Επιβεβαίωση Οικονομικής Θεωρίας:</a:t>
            </a:r>
            <a:r>
              <a:rPr lang="el-GR" sz="1600" dirty="0"/>
              <a:t> Το μοντέλο "έμαθε" την ελαστικότητα. Η υψηλή τιμή στο </a:t>
            </a:r>
            <a:r>
              <a:rPr lang="el-GR" dirty="0"/>
              <a:t>Price</a:t>
            </a:r>
            <a:r>
              <a:rPr lang="el-GR" sz="1600" dirty="0"/>
              <a:t> (κόκκινο) σπρώχνει την πρόβλεψη αριστερά (μείωση πωλήσεων). Αντίθετα, όταν η τιμή του ανταγωνιστή είναι υψηλή (</a:t>
            </a:r>
            <a:r>
              <a:rPr lang="el-GR" dirty="0"/>
              <a:t>Competitor Pricing</a:t>
            </a:r>
            <a:r>
              <a:rPr lang="el-GR" sz="1600" dirty="0"/>
              <a:t> στο κόκκινο), η πρόβλεψή μας αυξάνεται, καθώς οι πελάτες στρέφονται σε εμάς.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600" b="1" dirty="0"/>
              <a:t>Το Φαινόμενο του Out-of-Stock:</a:t>
            </a:r>
            <a:r>
              <a:rPr lang="el-GR" sz="1600" dirty="0"/>
              <a:t> Στο </a:t>
            </a:r>
            <a:r>
              <a:rPr lang="el-GR" dirty="0"/>
              <a:t>Inventory Level</a:t>
            </a:r>
            <a:r>
              <a:rPr lang="el-GR" sz="1600" dirty="0"/>
              <a:t>, τα εξαιρετικά χαμηλά αποθέματα (μπλε τελείες) δημιουργούν μια μακριά ουρά προς τα αριστερά. Ο αλγόριθμος αντιλαμβάνεται ότι η έλλειψη διαθεσιμότητας "τιμωρεί" κάθετα τις πιθανές πωλήσεις.</a:t>
            </a: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3D7EE8-3918-5061-1670-69E248E719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1638" y="1162373"/>
            <a:ext cx="5760362" cy="5592953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3B1825ED-B8FC-F4D2-995C-A30C606C2D65}"/>
              </a:ext>
            </a:extLst>
          </p:cNvPr>
          <p:cNvSpPr/>
          <p:nvPr/>
        </p:nvSpPr>
        <p:spPr>
          <a:xfrm>
            <a:off x="-526942" y="4639565"/>
            <a:ext cx="7051729" cy="2363492"/>
          </a:xfrm>
          <a:prstGeom prst="ellipse">
            <a:avLst/>
          </a:prstGeom>
          <a:gradFill>
            <a:gsLst>
              <a:gs pos="40000">
                <a:schemeClr val="accent1">
                  <a:alpha val="0"/>
                  <a:lumMod val="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7"/>
          <p:cNvSpPr txBox="1"/>
          <p:nvPr/>
        </p:nvSpPr>
        <p:spPr>
          <a:xfrm>
            <a:off x="380999" y="166687"/>
            <a:ext cx="102392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2700" b="0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Explainable AI: Η Δυναμική της Τιμής (SHAP Dependence)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73CF6A-ACEC-A05B-44A8-942B55286BC9}"/>
              </a:ext>
            </a:extLst>
          </p:cNvPr>
          <p:cNvSpPr txBox="1"/>
          <p:nvPr/>
        </p:nvSpPr>
        <p:spPr>
          <a:xfrm>
            <a:off x="0" y="762000"/>
            <a:ext cx="503694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600" b="1" dirty="0"/>
              <a:t>Απομόνωση Μεταβλητής:</a:t>
            </a:r>
            <a:r>
              <a:rPr lang="el-GR" sz="1600" dirty="0"/>
              <a:t> Το Dependence Plot απομονώνει την επιρροή της Τιμής (άξονας X) στην τελική πρόβλεψη πωλήσεων (άξονας Y).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600" b="1" dirty="0"/>
              <a:t>Μη-Γραμμική Ελαστικότητα:</a:t>
            </a:r>
            <a:r>
              <a:rPr lang="el-GR" sz="1600" dirty="0"/>
              <a:t> Η καμπύλη είναι ξεκάθαρα πτωτική. Καθώς η τιμή ενός προϊόντος αυξάνεται (προχωρώντας δεξιά), το SHAP value πέφτει κάτω από το μηδέν, μειώνοντας τη ζήτηση (Νόμος της Ζήτησης).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600" b="1" dirty="0"/>
              <a:t>Ανίχνευση Αλληλεπιδράσεων (Price vs. Inventory Level):</a:t>
            </a:r>
            <a:r>
              <a:rPr lang="el-GR" sz="1600" dirty="0"/>
              <a:t> Το SHAP χρωμάτισε αυτόματα τις τελείες με βάση το </a:t>
            </a:r>
            <a:r>
              <a:rPr lang="el-GR" sz="1600" b="1" dirty="0"/>
              <a:t>Απόθεμα</a:t>
            </a:r>
            <a:r>
              <a:rPr lang="el-GR" sz="1600" dirty="0"/>
              <a:t>. Παρατηρούμε ότι στις χαμηλές τιμές (αριστερά στο γράφημα), τα σημεία με </a:t>
            </a:r>
            <a:r>
              <a:rPr lang="el-GR" sz="1600" i="1" dirty="0"/>
              <a:t>υψηλό απόθεμα</a:t>
            </a:r>
            <a:r>
              <a:rPr lang="el-GR" sz="1600" dirty="0"/>
              <a:t> (κόκκινο χρώμα) έχουν το μέγιστο θετικό SHAP value.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600" b="1" dirty="0"/>
              <a:t>Εμπορικό Συμπέρασμα:</a:t>
            </a:r>
            <a:r>
              <a:rPr lang="el-GR" sz="1600" dirty="0"/>
              <a:t> Ο αλγόριθμος αντιλαμβάνεται τον ρεαλιστικό περιορισμό της αποθήκης. Η μείωση της τιμής δημιουργεί τεράστια ζήτηση, την οποία το μοντέλο προβλέπει ως "σίγουρες πωλήσεις" ΜΟΝΟ όταν επιβεβαιώσει ότι το απόθεμά μας επαρκεί για να την καλύψει.</a:t>
            </a: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870E33-98AF-208A-DE72-652E140E74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6949" y="1916140"/>
            <a:ext cx="7072205" cy="487083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143000"/>
            <a:ext cx="5524500" cy="533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762000"/>
            <a:ext cx="12192000" cy="60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8"/>
          <p:cNvSpPr txBox="1"/>
          <p:nvPr/>
        </p:nvSpPr>
        <p:spPr>
          <a:xfrm>
            <a:off x="381000" y="166687"/>
            <a:ext cx="1048331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Explainable AI: </a:t>
            </a:r>
            <a:r>
              <a:rPr lang="el-GR" sz="2700" b="0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Το "</a:t>
            </a:r>
            <a:r>
              <a:rPr lang="en-US" sz="2700" b="0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Bottleneck" </a:t>
            </a:r>
            <a:r>
              <a:rPr lang="el-GR" sz="2700" b="0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του Αποθέματος (</a:t>
            </a:r>
            <a:r>
              <a:rPr lang="en-US" sz="2700" b="0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SHAP)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889622-813D-DA52-22D9-3AD963AA3831}"/>
              </a:ext>
            </a:extLst>
          </p:cNvPr>
          <p:cNvSpPr txBox="1"/>
          <p:nvPr/>
        </p:nvSpPr>
        <p:spPr>
          <a:xfrm>
            <a:off x="51661" y="941815"/>
            <a:ext cx="535724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600" b="1" dirty="0"/>
              <a:t>Ο Απόλυτος Περιορισμός:</a:t>
            </a:r>
            <a:r>
              <a:rPr lang="el-GR" sz="1600" dirty="0"/>
              <a:t> Το γράφημα απομονώνει τη μεταβλητή Inventory Level (άξονας X) και αποδεικνύει ότι η διαθεσιμότητα λειτουργεί ως ο τελικός ρυθμιστής των πωλήσεων.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600" b="1" dirty="0"/>
              <a:t>Το Κρίσιμο Κατώφλι (Out-of-Stock Penalty):</a:t>
            </a:r>
            <a:r>
              <a:rPr lang="el-GR" sz="1600" dirty="0"/>
              <a:t> Όταν το απόθεμα προσεγγίζει το μηδέν (αριστερά στον άξονα), η επίδραση στην πρόβλεψη γίνεται βίαια αρνητική. Ο αλγόριθμος μηδενίζει τις πωλήσεις όσο υψηλή και αν είναι η ζήτηση.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600" b="1" dirty="0"/>
              <a:t>Νόμος Φθίνουσας Απόδοσης:</a:t>
            </a:r>
            <a:r>
              <a:rPr lang="el-GR" sz="1600" dirty="0"/>
              <a:t> Καθώς το απόθεμα αυξάνεται υπερβολικά (δεξιά στον άξονα), η θετική του επίδραση σταθεροποιείται (plateau). Το μοντέλο προστατεύει από το "Overstocking", αναγνωρίζοντας ότι το άπειρο εμπόρευμα δεν φέρνει άπειρες πωλήσεις.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600" b="1" dirty="0"/>
              <a:t>Αλληλεπίδραση με Εποχικότητα (Month_Sin):</a:t>
            </a:r>
            <a:r>
              <a:rPr lang="el-GR" sz="1600" dirty="0"/>
              <a:t> Το SHAP χρωμάτισε τις τελείες με βάση τον μήνα. Ο αλγόριθμος αντιλαμβάνεται ότι η αξία του διαθέσιμου αποθέματος μεταβάλλεται δυναμικά: η ζημιά ενός stock-out ή το πλεονέκτημα μιας γεμάτης αποθήκης εξαρτάται άμεσα από την εποχικότητα της αγοράς.</a:t>
            </a: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549EA3-A582-2271-3E52-4D278F15C9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3660" y="1580892"/>
            <a:ext cx="6816679" cy="462390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380999" y="166687"/>
            <a:ext cx="10622797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Prescriptive Analytics: </a:t>
            </a:r>
            <a:r>
              <a:rPr lang="en-US" sz="2700" b="0" i="0" u="none" strike="noStrike" cap="none" dirty="0" err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Προσομοιωτής</a:t>
            </a:r>
            <a:r>
              <a:rPr lang="en-US" sz="2700" b="0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Απ</a:t>
            </a:r>
            <a:r>
              <a:rPr lang="en-US" sz="2700" b="0" i="0" u="none" strike="noStrike" cap="none" dirty="0" err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οφάσεων</a:t>
            </a:r>
            <a:r>
              <a:rPr lang="en-US" sz="2700" b="0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(What-If)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187DA2-7F8F-22E2-5434-ADAF58BE1D5F}"/>
              </a:ext>
            </a:extLst>
          </p:cNvPr>
          <p:cNvSpPr txBox="1"/>
          <p:nvPr/>
        </p:nvSpPr>
        <p:spPr>
          <a:xfrm>
            <a:off x="139484" y="928687"/>
            <a:ext cx="5524499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b="1" dirty="0"/>
              <a:t>Από την Πρόβλεψη στη Στρατηγική:</a:t>
            </a:r>
            <a:r>
              <a:rPr lang="el-GR" dirty="0"/>
              <a:t> Το μοντέλο μετατρέπεται από ένα απλό παθητικό εργαλείο σε έναν δυναμικό προσομοιωτή, προσφέροντας καθοδήγηση (Prescriptive Analytics).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b="1" dirty="0"/>
              <a:t>Στρατηγικό "Sandboxing":</a:t>
            </a:r>
            <a:r>
              <a:rPr lang="el-GR" dirty="0"/>
              <a:t> Η διοίκηση έχει πλέον τη δυνατότητα να δοκιμάζει σενάρια αλλαγής τιμών και διαχείρισης αποθέματος ΠΡΙΝ τα εφαρμόσει στην πραγματική αγορά.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b="1" dirty="0"/>
              <a:t>Ανάλυση Σεναρίων </a:t>
            </a:r>
            <a:r>
              <a:rPr lang="el-GR" dirty="0"/>
              <a:t>(Κατηγορία </a:t>
            </a:r>
            <a:r>
              <a:rPr lang="en-US" dirty="0"/>
              <a:t>Clothing):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b="1" dirty="0"/>
              <a:t>Σενάριο 1 (Baseline):</a:t>
            </a:r>
            <a:r>
              <a:rPr lang="el-GR" dirty="0"/>
              <a:t> Η διατήρηση της τρέχουσας στρατηγικής φέρνει αναμενόμενο τζίρο 3.274€.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b="1" dirty="0"/>
              <a:t>Σενάριο 2 (Ανεπαρκές Απόθεμα):</a:t>
            </a:r>
            <a:r>
              <a:rPr lang="el-GR" dirty="0"/>
              <a:t> Ακόμα και με μείωση τιμής (-20%), το χαμηλό απόθεμα κατακρημνίζει τον τζίρο στα 800€(Χαμένες ευκαιρίες).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b="1" dirty="0"/>
              <a:t>Σενάριο 3 (Βελτιστοποίηση):</a:t>
            </a:r>
            <a:r>
              <a:rPr lang="el-GR" dirty="0"/>
              <a:t> Η αύξηση της τιμής (+10%) σε συνδυασμό με την </a:t>
            </a:r>
            <a:r>
              <a:rPr lang="en-US" dirty="0"/>
              <a:t>	</a:t>
            </a:r>
            <a:r>
              <a:rPr lang="el-GR" dirty="0"/>
              <a:t>πλήρη επάρκεια αποθέματος (300 τμχ) εκτοξεύει τα</a:t>
            </a:r>
            <a:r>
              <a:rPr lang="en-US" dirty="0"/>
              <a:t> </a:t>
            </a:r>
            <a:r>
              <a:rPr lang="el-GR" dirty="0"/>
              <a:t>έσοδα στα 4.969€.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b="1" dirty="0"/>
              <a:t>Εμπορικό Αποτέλεσμα:</a:t>
            </a:r>
            <a:r>
              <a:rPr lang="el-GR" dirty="0"/>
              <a:t> Το μοντέλο αναγνωρίζει ότι ο πελάτης είναι διατεθειμένος να πληρώσει παραπάνω (+10%), αρκεί να βρει το προϊόν διαθέσιμο στο ράφι.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D6F144-A218-9CE9-C7B2-3626878591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6784" y="3621267"/>
            <a:ext cx="6025732" cy="298636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4" name="Rectangle 33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200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76200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76200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4545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8" name="Google Shape;328;p30"/>
          <p:cNvSpPr txBox="1"/>
          <p:nvPr/>
        </p:nvSpPr>
        <p:spPr>
          <a:xfrm>
            <a:off x="1371597" y="1110865"/>
            <a:ext cx="10044023" cy="87772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0" i="0" u="none" strike="noStrike" kern="1200" cap="none">
                <a:solidFill>
                  <a:srgbClr val="FFFFFF"/>
                </a:solidFill>
                <a:latin typeface="+mj-lt"/>
                <a:ea typeface="+mj-ea"/>
                <a:cs typeface="+mj-cs"/>
                <a:sym typeface="Merriweather"/>
              </a:rPr>
              <a:t>Συμπεράσματα &amp; Στρατηγική Αξία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26" name="Google Shape;326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0" name="TextBox 1">
            <a:extLst>
              <a:ext uri="{FF2B5EF4-FFF2-40B4-BE49-F238E27FC236}">
                <a16:creationId xmlns:a16="http://schemas.microsoft.com/office/drawing/2014/main" id="{4E04E39A-DC38-2F53-A45B-DAA3863EF7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554486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2"/>
          <p:cNvSpPr txBox="1"/>
          <p:nvPr/>
        </p:nvSpPr>
        <p:spPr>
          <a:xfrm>
            <a:off x="0" y="1909167"/>
            <a:ext cx="12192000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Σας ευχαριστώ πολύ!</a:t>
            </a:r>
            <a:endParaRPr/>
          </a:p>
        </p:txBody>
      </p:sp>
      <p:sp>
        <p:nvSpPr>
          <p:cNvPr id="354" name="Google Shape;354;p32"/>
          <p:cNvSpPr txBox="1"/>
          <p:nvPr/>
        </p:nvSpPr>
        <p:spPr>
          <a:xfrm>
            <a:off x="0" y="3156942"/>
            <a:ext cx="1219200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Ερωτήσεις;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2330</Words>
  <Application>Microsoft Office PowerPoint</Application>
  <PresentationFormat>Widescreen</PresentationFormat>
  <Paragraphs>171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DM Sans</vt:lpstr>
      <vt:lpstr>Courier New</vt:lpstr>
      <vt:lpstr>Calibri</vt:lpstr>
      <vt:lpstr>Merriweather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Office User 2</cp:lastModifiedBy>
  <cp:revision>24</cp:revision>
  <dcterms:modified xsi:type="dcterms:W3CDTF">2026-05-17T04:32:45Z</dcterms:modified>
</cp:coreProperties>
</file>